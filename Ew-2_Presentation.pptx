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65" r:id="rId3"/>
    <p:sldId id="266" r:id="rId4"/>
    <p:sldId id="286" r:id="rId5"/>
    <p:sldId id="288" r:id="rId6"/>
    <p:sldId id="287" r:id="rId7"/>
    <p:sldId id="289" r:id="rId8"/>
    <p:sldId id="290" r:id="rId9"/>
    <p:sldId id="267" r:id="rId10"/>
    <p:sldId id="276" r:id="rId11"/>
    <p:sldId id="277" r:id="rId12"/>
    <p:sldId id="269" r:id="rId13"/>
    <p:sldId id="270" r:id="rId14"/>
    <p:sldId id="271" r:id="rId15"/>
    <p:sldId id="272" r:id="rId16"/>
    <p:sldId id="278" r:id="rId17"/>
    <p:sldId id="279" r:id="rId18"/>
    <p:sldId id="280" r:id="rId19"/>
    <p:sldId id="281" r:id="rId20"/>
    <p:sldId id="282" r:id="rId21"/>
    <p:sldId id="283" r:id="rId22"/>
    <p:sldId id="284" r:id="rId23"/>
    <p:sldId id="285"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674C8F-2856-4CDE-98B2-EB5B5BF63E07}" v="1154" dt="2024-03-05T10:59:52.8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8674C8F-2856-4CDE-98B2-EB5B5BF63E07}"/>
    <pc:docChg chg="addSld delSld modSld">
      <pc:chgData name="Guest User" userId="" providerId="Windows Live" clId="Web-{48674C8F-2856-4CDE-98B2-EB5B5BF63E07}" dt="2024-03-05T10:59:52.860" v="801" actId="1076"/>
      <pc:docMkLst>
        <pc:docMk/>
      </pc:docMkLst>
      <pc:sldChg chg="addSp delSp modSp">
        <pc:chgData name="Guest User" userId="" providerId="Windows Live" clId="Web-{48674C8F-2856-4CDE-98B2-EB5B5BF63E07}" dt="2024-03-05T10:27:35.400" v="117" actId="1076"/>
        <pc:sldMkLst>
          <pc:docMk/>
          <pc:sldMk cId="2116190161" sldId="266"/>
        </pc:sldMkLst>
        <pc:spChg chg="mod">
          <ac:chgData name="Guest User" userId="" providerId="Windows Live" clId="Web-{48674C8F-2856-4CDE-98B2-EB5B5BF63E07}" dt="2024-03-05T10:13:31.611" v="6" actId="20577"/>
          <ac:spMkLst>
            <pc:docMk/>
            <pc:sldMk cId="2116190161" sldId="266"/>
            <ac:spMk id="2" creationId="{00000000-0000-0000-0000-000000000000}"/>
          </ac:spMkLst>
        </pc:spChg>
        <pc:spChg chg="del">
          <ac:chgData name="Guest User" userId="" providerId="Windows Live" clId="Web-{48674C8F-2856-4CDE-98B2-EB5B5BF63E07}" dt="2024-03-05T10:13:06.251" v="0"/>
          <ac:spMkLst>
            <pc:docMk/>
            <pc:sldMk cId="2116190161" sldId="266"/>
            <ac:spMk id="4" creationId="{A1CF020C-A11F-ED1E-EC6C-4EB89AF02925}"/>
          </ac:spMkLst>
        </pc:spChg>
        <pc:spChg chg="add del">
          <ac:chgData name="Guest User" userId="" providerId="Windows Live" clId="Web-{48674C8F-2856-4CDE-98B2-EB5B5BF63E07}" dt="2024-03-05T10:22:20.485" v="60"/>
          <ac:spMkLst>
            <pc:docMk/>
            <pc:sldMk cId="2116190161" sldId="266"/>
            <ac:spMk id="5" creationId="{FF523289-A2E3-81E1-24C3-E38E7D79077C}"/>
          </ac:spMkLst>
        </pc:spChg>
        <pc:spChg chg="add mod">
          <ac:chgData name="Guest User" userId="" providerId="Windows Live" clId="Web-{48674C8F-2856-4CDE-98B2-EB5B5BF63E07}" dt="2024-03-05T10:27:27.790" v="116" actId="1076"/>
          <ac:spMkLst>
            <pc:docMk/>
            <pc:sldMk cId="2116190161" sldId="266"/>
            <ac:spMk id="6" creationId="{2D0553A3-24A9-0034-F8FD-4AA8450B41CC}"/>
          </ac:spMkLst>
        </pc:spChg>
        <pc:picChg chg="add mod ord">
          <ac:chgData name="Guest User" userId="" providerId="Windows Live" clId="Web-{48674C8F-2856-4CDE-98B2-EB5B5BF63E07}" dt="2024-03-05T10:27:35.400" v="117" actId="1076"/>
          <ac:picMkLst>
            <pc:docMk/>
            <pc:sldMk cId="2116190161" sldId="266"/>
            <ac:picMk id="3" creationId="{83FE8866-DF01-B067-6EC1-36C424C0A96C}"/>
          </ac:picMkLst>
        </pc:picChg>
      </pc:sldChg>
      <pc:sldChg chg="addSp delSp modSp new mod modClrScheme chgLayout">
        <pc:chgData name="Guest User" userId="" providerId="Windows Live" clId="Web-{48674C8F-2856-4CDE-98B2-EB5B5BF63E07}" dt="2024-03-05T10:26:45.852" v="109" actId="20577"/>
        <pc:sldMkLst>
          <pc:docMk/>
          <pc:sldMk cId="2169737097" sldId="286"/>
        </pc:sldMkLst>
        <pc:spChg chg="del">
          <ac:chgData name="Guest User" userId="" providerId="Windows Live" clId="Web-{48674C8F-2856-4CDE-98B2-EB5B5BF63E07}" dt="2024-03-05T10:14:23.019" v="12"/>
          <ac:spMkLst>
            <pc:docMk/>
            <pc:sldMk cId="2169737097" sldId="286"/>
            <ac:spMk id="2" creationId="{12AB00D3-0136-37EE-F91C-C03C9ECA7098}"/>
          </ac:spMkLst>
        </pc:spChg>
        <pc:spChg chg="del">
          <ac:chgData name="Guest User" userId="" providerId="Windows Live" clId="Web-{48674C8F-2856-4CDE-98B2-EB5B5BF63E07}" dt="2024-03-05T10:14:23.019" v="12"/>
          <ac:spMkLst>
            <pc:docMk/>
            <pc:sldMk cId="2169737097" sldId="286"/>
            <ac:spMk id="3" creationId="{50F0EF2E-550E-BAED-A89A-835F354FC873}"/>
          </ac:spMkLst>
        </pc:spChg>
        <pc:spChg chg="add mod">
          <ac:chgData name="Guest User" userId="" providerId="Windows Live" clId="Web-{48674C8F-2856-4CDE-98B2-EB5B5BF63E07}" dt="2024-03-05T10:26:45.852" v="109" actId="20577"/>
          <ac:spMkLst>
            <pc:docMk/>
            <pc:sldMk cId="2169737097" sldId="286"/>
            <ac:spMk id="4" creationId="{384FC249-2481-9D7A-C212-1416E4591B5D}"/>
          </ac:spMkLst>
        </pc:spChg>
      </pc:sldChg>
      <pc:sldChg chg="modSp new del">
        <pc:chgData name="Guest User" userId="" providerId="Windows Live" clId="Web-{48674C8F-2856-4CDE-98B2-EB5B5BF63E07}" dt="2024-03-05T10:14:08.190" v="10"/>
        <pc:sldMkLst>
          <pc:docMk/>
          <pc:sldMk cId="3739241393" sldId="286"/>
        </pc:sldMkLst>
        <pc:spChg chg="mod">
          <ac:chgData name="Guest User" userId="" providerId="Windows Live" clId="Web-{48674C8F-2856-4CDE-98B2-EB5B5BF63E07}" dt="2024-03-05T10:14:07.502" v="9" actId="14100"/>
          <ac:spMkLst>
            <pc:docMk/>
            <pc:sldMk cId="3739241393" sldId="286"/>
            <ac:spMk id="2" creationId="{B0B40BE8-F4C9-A22A-59B5-2EDCBDABCFF6}"/>
          </ac:spMkLst>
        </pc:spChg>
      </pc:sldChg>
      <pc:sldChg chg="addSp delSp modSp new mod modClrScheme chgLayout">
        <pc:chgData name="Guest User" userId="" providerId="Windows Live" clId="Web-{48674C8F-2856-4CDE-98B2-EB5B5BF63E07}" dt="2024-03-05T10:45:37.524" v="559" actId="20577"/>
        <pc:sldMkLst>
          <pc:docMk/>
          <pc:sldMk cId="2748519456" sldId="287"/>
        </pc:sldMkLst>
        <pc:spChg chg="add del mod ord">
          <ac:chgData name="Guest User" userId="" providerId="Windows Live" clId="Web-{48674C8F-2856-4CDE-98B2-EB5B5BF63E07}" dt="2024-03-05T10:32:45.080" v="179"/>
          <ac:spMkLst>
            <pc:docMk/>
            <pc:sldMk cId="2748519456" sldId="287"/>
            <ac:spMk id="2" creationId="{98EA6C3D-C8D7-67B2-3B6E-BE0F1DCB14E4}"/>
          </ac:spMkLst>
        </pc:spChg>
        <pc:spChg chg="add del mod">
          <ac:chgData name="Guest User" userId="" providerId="Windows Live" clId="Web-{48674C8F-2856-4CDE-98B2-EB5B5BF63E07}" dt="2024-03-05T10:32:37.737" v="178"/>
          <ac:spMkLst>
            <pc:docMk/>
            <pc:sldMk cId="2748519456" sldId="287"/>
            <ac:spMk id="3" creationId="{12ADDAA6-2448-D3AE-8C84-017140D55249}"/>
          </ac:spMkLst>
        </pc:spChg>
        <pc:spChg chg="add mod ord">
          <ac:chgData name="Guest User" userId="" providerId="Windows Live" clId="Web-{48674C8F-2856-4CDE-98B2-EB5B5BF63E07}" dt="2024-03-05T10:42:09.159" v="317" actId="14100"/>
          <ac:spMkLst>
            <pc:docMk/>
            <pc:sldMk cId="2748519456" sldId="287"/>
            <ac:spMk id="4" creationId="{9A93C645-B9EF-FC4C-A34D-075C4208B2CB}"/>
          </ac:spMkLst>
        </pc:spChg>
        <pc:spChg chg="add del mod">
          <ac:chgData name="Guest User" userId="" providerId="Windows Live" clId="Web-{48674C8F-2856-4CDE-98B2-EB5B5BF63E07}" dt="2024-03-05T10:32:37.737" v="178"/>
          <ac:spMkLst>
            <pc:docMk/>
            <pc:sldMk cId="2748519456" sldId="287"/>
            <ac:spMk id="5" creationId="{AAA44C88-12EC-65B5-A4A4-289D3D33E89A}"/>
          </ac:spMkLst>
        </pc:spChg>
        <pc:spChg chg="add del mod">
          <ac:chgData name="Guest User" userId="" providerId="Windows Live" clId="Web-{48674C8F-2856-4CDE-98B2-EB5B5BF63E07}" dt="2024-03-05T10:32:37.737" v="178"/>
          <ac:spMkLst>
            <pc:docMk/>
            <pc:sldMk cId="2748519456" sldId="287"/>
            <ac:spMk id="6" creationId="{D44BF31B-4B5A-C6F2-C062-B08535230278}"/>
          </ac:spMkLst>
        </pc:spChg>
        <pc:spChg chg="add del">
          <ac:chgData name="Guest User" userId="" providerId="Windows Live" clId="Web-{48674C8F-2856-4CDE-98B2-EB5B5BF63E07}" dt="2024-03-05T10:42:22.800" v="320"/>
          <ac:spMkLst>
            <pc:docMk/>
            <pc:sldMk cId="2748519456" sldId="287"/>
            <ac:spMk id="8" creationId="{986D57CD-FFAE-1176-DA29-245268EC7393}"/>
          </ac:spMkLst>
        </pc:spChg>
        <pc:spChg chg="add mod">
          <ac:chgData name="Guest User" userId="" providerId="Windows Live" clId="Web-{48674C8F-2856-4CDE-98B2-EB5B5BF63E07}" dt="2024-03-05T10:45:37.524" v="559" actId="20577"/>
          <ac:spMkLst>
            <pc:docMk/>
            <pc:sldMk cId="2748519456" sldId="287"/>
            <ac:spMk id="9" creationId="{480EAB4B-07E0-4CEC-23C5-2E6725B96B01}"/>
          </ac:spMkLst>
        </pc:spChg>
        <pc:picChg chg="add mod">
          <ac:chgData name="Guest User" userId="" providerId="Windows Live" clId="Web-{48674C8F-2856-4CDE-98B2-EB5B5BF63E07}" dt="2024-03-05T10:45:28.367" v="556" actId="1076"/>
          <ac:picMkLst>
            <pc:docMk/>
            <pc:sldMk cId="2748519456" sldId="287"/>
            <ac:picMk id="7" creationId="{3D0648BA-53FB-44FA-AF1C-7096327440F6}"/>
          </ac:picMkLst>
        </pc:picChg>
      </pc:sldChg>
      <pc:sldChg chg="addSp delSp modSp new mod modClrScheme chgLayout">
        <pc:chgData name="Guest User" userId="" providerId="Windows Live" clId="Web-{48674C8F-2856-4CDE-98B2-EB5B5BF63E07}" dt="2024-03-05T10:32:17.830" v="176" actId="14100"/>
        <pc:sldMkLst>
          <pc:docMk/>
          <pc:sldMk cId="2498645410" sldId="288"/>
        </pc:sldMkLst>
        <pc:spChg chg="add del">
          <ac:chgData name="Guest User" userId="" providerId="Windows Live" clId="Web-{48674C8F-2856-4CDE-98B2-EB5B5BF63E07}" dt="2024-03-05T10:28:13.510" v="120"/>
          <ac:spMkLst>
            <pc:docMk/>
            <pc:sldMk cId="2498645410" sldId="288"/>
            <ac:spMk id="2" creationId="{B20328F8-62F2-7891-1E0E-8E4256A7EE32}"/>
          </ac:spMkLst>
        </pc:spChg>
        <pc:spChg chg="add del mod">
          <ac:chgData name="Guest User" userId="" providerId="Windows Live" clId="Web-{48674C8F-2856-4CDE-98B2-EB5B5BF63E07}" dt="2024-03-05T10:28:35.120" v="122"/>
          <ac:spMkLst>
            <pc:docMk/>
            <pc:sldMk cId="2498645410" sldId="288"/>
            <ac:spMk id="3" creationId="{D70B2FFE-A944-0405-FC9C-7DF5C3C82084}"/>
          </ac:spMkLst>
        </pc:spChg>
        <pc:spChg chg="add mod">
          <ac:chgData name="Guest User" userId="" providerId="Windows Live" clId="Web-{48674C8F-2856-4CDE-98B2-EB5B5BF63E07}" dt="2024-03-05T10:32:01.986" v="173" actId="14100"/>
          <ac:spMkLst>
            <pc:docMk/>
            <pc:sldMk cId="2498645410" sldId="288"/>
            <ac:spMk id="4" creationId="{23E663F4-49DF-2AAE-0367-B28D61D57667}"/>
          </ac:spMkLst>
        </pc:spChg>
        <pc:picChg chg="add mod">
          <ac:chgData name="Guest User" userId="" providerId="Windows Live" clId="Web-{48674C8F-2856-4CDE-98B2-EB5B5BF63E07}" dt="2024-03-05T10:32:17.830" v="176" actId="14100"/>
          <ac:picMkLst>
            <pc:docMk/>
            <pc:sldMk cId="2498645410" sldId="288"/>
            <ac:picMk id="5" creationId="{2E308B78-4786-9313-F8EA-44F5968223F0}"/>
          </ac:picMkLst>
        </pc:picChg>
      </pc:sldChg>
      <pc:sldChg chg="addSp delSp modSp new">
        <pc:chgData name="Guest User" userId="" providerId="Windows Live" clId="Web-{48674C8F-2856-4CDE-98B2-EB5B5BF63E07}" dt="2024-03-05T10:57:08.637" v="776" actId="1076"/>
        <pc:sldMkLst>
          <pc:docMk/>
          <pc:sldMk cId="3098913100" sldId="289"/>
        </pc:sldMkLst>
        <pc:spChg chg="mod">
          <ac:chgData name="Guest User" userId="" providerId="Windows Live" clId="Web-{48674C8F-2856-4CDE-98B2-EB5B5BF63E07}" dt="2024-03-05T10:53:58.147" v="670" actId="20577"/>
          <ac:spMkLst>
            <pc:docMk/>
            <pc:sldMk cId="3098913100" sldId="289"/>
            <ac:spMk id="2" creationId="{658A12E1-92CD-CDE3-4D4D-E18710AB5254}"/>
          </ac:spMkLst>
        </pc:spChg>
        <pc:spChg chg="del">
          <ac:chgData name="Guest User" userId="" providerId="Windows Live" clId="Web-{48674C8F-2856-4CDE-98B2-EB5B5BF63E07}" dt="2024-03-05T10:50:15.657" v="561"/>
          <ac:spMkLst>
            <pc:docMk/>
            <pc:sldMk cId="3098913100" sldId="289"/>
            <ac:spMk id="3" creationId="{9F8D2C13-9B98-3021-5667-0D99A8DF2199}"/>
          </ac:spMkLst>
        </pc:spChg>
        <pc:spChg chg="add del mod">
          <ac:chgData name="Guest User" userId="" providerId="Windows Live" clId="Web-{48674C8F-2856-4CDE-98B2-EB5B5BF63E07}" dt="2024-03-05T10:51:56.081" v="625"/>
          <ac:spMkLst>
            <pc:docMk/>
            <pc:sldMk cId="3098913100" sldId="289"/>
            <ac:spMk id="5" creationId="{92E1E840-4AAF-1864-0775-8349D85D1A97}"/>
          </ac:spMkLst>
        </pc:spChg>
        <pc:spChg chg="add mod">
          <ac:chgData name="Guest User" userId="" providerId="Windows Live" clId="Web-{48674C8F-2856-4CDE-98B2-EB5B5BF63E07}" dt="2024-03-05T10:57:04.981" v="775" actId="20577"/>
          <ac:spMkLst>
            <pc:docMk/>
            <pc:sldMk cId="3098913100" sldId="289"/>
            <ac:spMk id="6" creationId="{A0B54BE9-8838-2725-29A7-F8C0D67F5EC7}"/>
          </ac:spMkLst>
        </pc:spChg>
        <pc:picChg chg="add mod ord">
          <ac:chgData name="Guest User" userId="" providerId="Windows Live" clId="Web-{48674C8F-2856-4CDE-98B2-EB5B5BF63E07}" dt="2024-03-05T10:50:19.344" v="562" actId="1076"/>
          <ac:picMkLst>
            <pc:docMk/>
            <pc:sldMk cId="3098913100" sldId="289"/>
            <ac:picMk id="4" creationId="{461EA2ED-971A-9FBF-81CE-847B3399EF1C}"/>
          </ac:picMkLst>
        </pc:picChg>
        <pc:picChg chg="add mod">
          <ac:chgData name="Guest User" userId="" providerId="Windows Live" clId="Web-{48674C8F-2856-4CDE-98B2-EB5B5BF63E07}" dt="2024-03-05T10:57:08.637" v="776" actId="1076"/>
          <ac:picMkLst>
            <pc:docMk/>
            <pc:sldMk cId="3098913100" sldId="289"/>
            <ac:picMk id="7" creationId="{A02CB9CA-308F-86CE-4AA8-C44C60F97CFC}"/>
          </ac:picMkLst>
        </pc:picChg>
        <pc:picChg chg="add del mod">
          <ac:chgData name="Guest User" userId="" providerId="Windows Live" clId="Web-{48674C8F-2856-4CDE-98B2-EB5B5BF63E07}" dt="2024-03-05T10:54:42.336" v="680"/>
          <ac:picMkLst>
            <pc:docMk/>
            <pc:sldMk cId="3098913100" sldId="289"/>
            <ac:picMk id="8" creationId="{AF82CA3C-C0D0-9E92-7A68-A4ED2F8F5D6B}"/>
          </ac:picMkLst>
        </pc:picChg>
      </pc:sldChg>
      <pc:sldChg chg="addSp delSp modSp add replId">
        <pc:chgData name="Guest User" userId="" providerId="Windows Live" clId="Web-{48674C8F-2856-4CDE-98B2-EB5B5BF63E07}" dt="2024-03-05T10:59:52.860" v="801" actId="1076"/>
        <pc:sldMkLst>
          <pc:docMk/>
          <pc:sldMk cId="3659625848" sldId="290"/>
        </pc:sldMkLst>
        <pc:spChg chg="mod">
          <ac:chgData name="Guest User" userId="" providerId="Windows Live" clId="Web-{48674C8F-2856-4CDE-98B2-EB5B5BF63E07}" dt="2024-03-05T10:57:54.326" v="783" actId="20577"/>
          <ac:spMkLst>
            <pc:docMk/>
            <pc:sldMk cId="3659625848" sldId="290"/>
            <ac:spMk id="2" creationId="{658A12E1-92CD-CDE3-4D4D-E18710AB5254}"/>
          </ac:spMkLst>
        </pc:spChg>
        <pc:spChg chg="mod">
          <ac:chgData name="Guest User" userId="" providerId="Windows Live" clId="Web-{48674C8F-2856-4CDE-98B2-EB5B5BF63E07}" dt="2024-03-05T10:59:48.079" v="800" actId="20577"/>
          <ac:spMkLst>
            <pc:docMk/>
            <pc:sldMk cId="3659625848" sldId="290"/>
            <ac:spMk id="6" creationId="{A0B54BE9-8838-2725-29A7-F8C0D67F5EC7}"/>
          </ac:spMkLst>
        </pc:spChg>
        <pc:picChg chg="add mod">
          <ac:chgData name="Guest User" userId="" providerId="Windows Live" clId="Web-{48674C8F-2856-4CDE-98B2-EB5B5BF63E07}" dt="2024-03-05T10:59:52.860" v="801" actId="1076"/>
          <ac:picMkLst>
            <pc:docMk/>
            <pc:sldMk cId="3659625848" sldId="290"/>
            <ac:picMk id="3" creationId="{6E02ADF9-C561-D59E-E803-B4AD47418246}"/>
          </ac:picMkLst>
        </pc:picChg>
        <pc:picChg chg="del">
          <ac:chgData name="Guest User" userId="" providerId="Windows Live" clId="Web-{48674C8F-2856-4CDE-98B2-EB5B5BF63E07}" dt="2024-03-05T10:59:13.859" v="796"/>
          <ac:picMkLst>
            <pc:docMk/>
            <pc:sldMk cId="3659625848" sldId="290"/>
            <ac:picMk id="7" creationId="{A02CB9CA-308F-86CE-4AA8-C44C60F97CF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3/5/2024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3/5/2024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3/5/2024</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3/5/2024</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3/5/2024</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3/5/2024</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3/5/2024</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3/5/2024</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3/5/2024</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3/5/2024</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3/5/2024</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3/5/2024</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t>Audio Amplifier</a:t>
            </a:r>
            <a:endParaRPr/>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IN"/>
              <a:t>Stages in Audio Amplifier:</a:t>
            </a:r>
            <a:endParaRPr/>
          </a:p>
        </p:txBody>
      </p:sp>
      <p:sp>
        <p:nvSpPr>
          <p:cNvPr id="14" name="Content Placeholder 13"/>
          <p:cNvSpPr>
            <a:spLocks noGrp="1"/>
          </p:cNvSpPr>
          <p:nvPr>
            <p:ph idx="1"/>
          </p:nvPr>
        </p:nvSpPr>
        <p:spPr/>
        <p:txBody>
          <a:bodyPr/>
          <a:lstStyle/>
          <a:p>
            <a:r>
              <a:rPr lang="en-IN"/>
              <a:t>preamplifier</a:t>
            </a:r>
            <a:endParaRPr/>
          </a:p>
          <a:p>
            <a:r>
              <a:rPr lang="en-IN"/>
              <a:t>filtering</a:t>
            </a:r>
            <a:endParaRPr/>
          </a:p>
          <a:p>
            <a:r>
              <a:rPr lang="en-IN"/>
              <a:t>Power amplification</a:t>
            </a:r>
          </a:p>
        </p:txBody>
      </p:sp>
    </p:spTree>
    <p:extLst>
      <p:ext uri="{BB962C8B-B14F-4D97-AF65-F5344CB8AC3E}">
        <p14:creationId xmlns:p14="http://schemas.microsoft.com/office/powerpoint/2010/main" val="3042826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The preamplifier:</a:t>
            </a:r>
          </a:p>
        </p:txBody>
      </p:sp>
      <p:pic>
        <p:nvPicPr>
          <p:cNvPr id="3" name="Content Placeholder 2" descr="Preamplifier Circuit">
            <a:extLst>
              <a:ext uri="{FF2B5EF4-FFF2-40B4-BE49-F238E27FC236}">
                <a16:creationId xmlns:a16="http://schemas.microsoft.com/office/drawing/2014/main" id="{83FE8866-DF01-B067-6EC1-36C424C0A96C}"/>
              </a:ext>
            </a:extLst>
          </p:cNvPr>
          <p:cNvPicPr>
            <a:picLocks noGrp="1" noChangeAspect="1"/>
          </p:cNvPicPr>
          <p:nvPr>
            <p:ph idx="1"/>
          </p:nvPr>
        </p:nvPicPr>
        <p:blipFill>
          <a:blip r:embed="rId2"/>
          <a:stretch>
            <a:fillRect/>
          </a:stretch>
        </p:blipFill>
        <p:spPr>
          <a:xfrm>
            <a:off x="8103911" y="2220429"/>
            <a:ext cx="3471656" cy="3009072"/>
          </a:xfrm>
        </p:spPr>
      </p:pic>
      <p:sp>
        <p:nvSpPr>
          <p:cNvPr id="6" name="TextBox 5">
            <a:extLst>
              <a:ext uri="{FF2B5EF4-FFF2-40B4-BE49-F238E27FC236}">
                <a16:creationId xmlns:a16="http://schemas.microsoft.com/office/drawing/2014/main" id="{2D0553A3-24A9-0034-F8FD-4AA8450B41CC}"/>
              </a:ext>
            </a:extLst>
          </p:cNvPr>
          <p:cNvSpPr txBox="1"/>
          <p:nvPr/>
        </p:nvSpPr>
        <p:spPr>
          <a:xfrm>
            <a:off x="722786" y="1926255"/>
            <a:ext cx="7131120"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a:t>
            </a:r>
            <a:r>
              <a:rPr lang="en-US" sz="2000">
                <a:solidFill>
                  <a:srgbClr val="D3CFC9"/>
                </a:solidFill>
              </a:rPr>
              <a:t>he preamplifier circuit is very simple to design with two transistors through a feedback loop to improve the amplification.</a:t>
            </a:r>
            <a:endParaRPr lang="en-US" sz="2000">
              <a:solidFill>
                <a:srgbClr val="E8E6E3"/>
              </a:solidFill>
            </a:endParaRPr>
          </a:p>
          <a:p>
            <a:endParaRPr lang="en-US" sz="1900">
              <a:solidFill>
                <a:srgbClr val="E8E6E3"/>
              </a:solidFill>
            </a:endParaRPr>
          </a:p>
          <a:p>
            <a:r>
              <a:rPr lang="en-US" sz="2000">
                <a:solidFill>
                  <a:srgbClr val="D3CFC9"/>
                </a:solidFill>
              </a:rPr>
              <a:t>when that changing input is given across the specified C1 end terminals then the same signal is generated across the T1 transistor and GND. Generally, the high amplitudes are normally processed &amp; regenerated by a potential that is approximately equivalent to the voltage supply. But for the low </a:t>
            </a:r>
            <a:r>
              <a:rPr lang="en-US" sz="2000" err="1">
                <a:solidFill>
                  <a:srgbClr val="D3CFC9"/>
                </a:solidFill>
              </a:rPr>
              <a:t>misc</a:t>
            </a:r>
            <a:r>
              <a:rPr lang="en-US" sz="2000">
                <a:solidFill>
                  <a:srgbClr val="D3CFC9"/>
                </a:solidFill>
              </a:rPr>
              <a:t> amplitudes, the second transistor ‘T2’ is simply allowed to perform at the high ratio which is allowable for supplying to its emitter terminal.</a:t>
            </a:r>
            <a:endParaRPr lang="en-US" sz="2000">
              <a:solidFill>
                <a:srgbClr val="E8E6E3"/>
              </a:solidFill>
            </a:endParaRPr>
          </a:p>
          <a:p>
            <a:endParaRPr lang="en-US" sz="1900"/>
          </a:p>
        </p:txBody>
      </p:sp>
    </p:spTree>
    <p:extLst>
      <p:ext uri="{BB962C8B-B14F-4D97-AF65-F5344CB8AC3E}">
        <p14:creationId xmlns:p14="http://schemas.microsoft.com/office/powerpoint/2010/main" val="2116190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4FC249-2481-9D7A-C212-1416E4591B5D}"/>
              </a:ext>
            </a:extLst>
          </p:cNvPr>
          <p:cNvSpPr txBox="1"/>
          <p:nvPr/>
        </p:nvSpPr>
        <p:spPr>
          <a:xfrm>
            <a:off x="1639438" y="999141"/>
            <a:ext cx="8908326"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D3CFC9"/>
                </a:solidFill>
                <a:ea typeface="+mn-lt"/>
                <a:cs typeface="+mn-lt"/>
              </a:rPr>
              <a:t>At the moment, once the actual improvement of the music is executed by transmitting this accumulated high potential back to the T1 transistor’s base terminal that equally saturates at a much optimal speed.</a:t>
            </a:r>
            <a:endParaRPr lang="en-US" sz="2000">
              <a:solidFill>
                <a:srgbClr val="E8E6E3"/>
              </a:solidFill>
              <a:ea typeface="+mn-lt"/>
              <a:cs typeface="+mn-lt"/>
            </a:endParaRPr>
          </a:p>
          <a:p>
            <a:endParaRPr lang="en-US" sz="2000">
              <a:solidFill>
                <a:srgbClr val="D3CFC9"/>
              </a:solidFill>
              <a:ea typeface="+mn-lt"/>
              <a:cs typeface="+mn-lt"/>
            </a:endParaRPr>
          </a:p>
          <a:p>
            <a:r>
              <a:rPr lang="en-US" sz="2000">
                <a:solidFill>
                  <a:srgbClr val="D3CFC9"/>
                </a:solidFill>
                <a:ea typeface="+mn-lt"/>
                <a:cs typeface="+mn-lt"/>
              </a:rPr>
              <a:t>So ultimately this push-pull act will result in an overall amplification of slightly small music otherwise input data into a larger output significantly.</a:t>
            </a:r>
            <a:endParaRPr lang="en-US"/>
          </a:p>
          <a:p>
            <a:endParaRPr lang="en-US" sz="2000">
              <a:solidFill>
                <a:srgbClr val="D3CFC9"/>
              </a:solidFill>
            </a:endParaRPr>
          </a:p>
          <a:p>
            <a:r>
              <a:rPr lang="en-US" sz="2000">
                <a:solidFill>
                  <a:srgbClr val="D3CFC9"/>
                </a:solidFill>
                <a:ea typeface="+mn-lt"/>
                <a:cs typeface="+mn-lt"/>
              </a:rPr>
              <a:t>This simple preamplifier circuit simply allows the user to boost very small otherwise least frequencies to noticeably higher outputs which can be next utilized for feeding big amplifiers.</a:t>
            </a:r>
          </a:p>
          <a:p>
            <a:endParaRPr lang="en-US" sz="2000">
              <a:solidFill>
                <a:srgbClr val="D3CFC9"/>
              </a:solidFill>
            </a:endParaRPr>
          </a:p>
          <a:p>
            <a:r>
              <a:rPr lang="en-US" sz="2000">
                <a:solidFill>
                  <a:srgbClr val="D3CFC9"/>
                </a:solidFill>
                <a:ea typeface="+mn-lt"/>
                <a:cs typeface="+mn-lt"/>
              </a:rPr>
              <a:t>Actually, this circuit was commonly used in old cassette-type playback recorders within their preamp stages to boost the small signals from the tape head, thus this small amplifier’s output will become well-matched for the connected high-power amplifier.</a:t>
            </a:r>
            <a:endParaRPr lang="en-US" sz="2000"/>
          </a:p>
        </p:txBody>
      </p:sp>
    </p:spTree>
    <p:extLst>
      <p:ext uri="{BB962C8B-B14F-4D97-AF65-F5344CB8AC3E}">
        <p14:creationId xmlns:p14="http://schemas.microsoft.com/office/powerpoint/2010/main" val="2169737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3E663F4-49DF-2AAE-0367-B28D61D57667}"/>
              </a:ext>
            </a:extLst>
          </p:cNvPr>
          <p:cNvSpPr>
            <a:spLocks noGrp="1"/>
          </p:cNvSpPr>
          <p:nvPr>
            <p:ph idx="1"/>
          </p:nvPr>
        </p:nvSpPr>
        <p:spPr>
          <a:xfrm>
            <a:off x="927653" y="845931"/>
            <a:ext cx="10126868" cy="5603460"/>
          </a:xfrm>
        </p:spPr>
        <p:txBody>
          <a:bodyPr vert="horz" lIns="91440" tIns="45720" rIns="91440" bIns="45720" rtlCol="0" anchor="t">
            <a:normAutofit/>
          </a:bodyPr>
          <a:lstStyle/>
          <a:p>
            <a:pPr marL="0" indent="0">
              <a:buNone/>
            </a:pPr>
            <a:r>
              <a:rPr lang="en-US" sz="3000">
                <a:solidFill>
                  <a:srgbClr val="92D050"/>
                </a:solidFill>
              </a:rPr>
              <a:t>Frequency Response of the Preamplifier</a:t>
            </a:r>
          </a:p>
          <a:p>
            <a:pPr marL="0" indent="0">
              <a:buNone/>
            </a:pPr>
            <a:endParaRPr lang="en-US" sz="3000">
              <a:solidFill>
                <a:srgbClr val="92D050"/>
              </a:solidFill>
            </a:endParaRPr>
          </a:p>
        </p:txBody>
      </p:sp>
      <p:pic>
        <p:nvPicPr>
          <p:cNvPr id="5" name="Picture 4" descr="A graph with green lines&#10;&#10;Description automatically generated">
            <a:extLst>
              <a:ext uri="{FF2B5EF4-FFF2-40B4-BE49-F238E27FC236}">
                <a16:creationId xmlns:a16="http://schemas.microsoft.com/office/drawing/2014/main" id="{2E308B78-4786-9313-F8EA-44F5968223F0}"/>
              </a:ext>
            </a:extLst>
          </p:cNvPr>
          <p:cNvPicPr>
            <a:picLocks noChangeAspect="1"/>
          </p:cNvPicPr>
          <p:nvPr/>
        </p:nvPicPr>
        <p:blipFill>
          <a:blip r:embed="rId2"/>
          <a:stretch>
            <a:fillRect/>
          </a:stretch>
        </p:blipFill>
        <p:spPr>
          <a:xfrm>
            <a:off x="1049129" y="1530013"/>
            <a:ext cx="9066696" cy="4438498"/>
          </a:xfrm>
          <a:prstGeom prst="rect">
            <a:avLst/>
          </a:prstGeom>
        </p:spPr>
      </p:pic>
    </p:spTree>
    <p:extLst>
      <p:ext uri="{BB962C8B-B14F-4D97-AF65-F5344CB8AC3E}">
        <p14:creationId xmlns:p14="http://schemas.microsoft.com/office/powerpoint/2010/main" val="2498645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93C645-B9EF-FC4C-A34D-075C4208B2CB}"/>
              </a:ext>
            </a:extLst>
          </p:cNvPr>
          <p:cNvSpPr>
            <a:spLocks noGrp="1"/>
          </p:cNvSpPr>
          <p:nvPr>
            <p:ph idx="1"/>
          </p:nvPr>
        </p:nvSpPr>
        <p:spPr>
          <a:xfrm>
            <a:off x="596348" y="757583"/>
            <a:ext cx="10955130" cy="545548"/>
          </a:xfrm>
        </p:spPr>
        <p:txBody>
          <a:bodyPr vert="horz" lIns="91440" tIns="45720" rIns="91440" bIns="45720" rtlCol="0" anchor="t">
            <a:normAutofit/>
          </a:bodyPr>
          <a:lstStyle/>
          <a:p>
            <a:pPr marL="0" indent="0">
              <a:buNone/>
            </a:pPr>
            <a:r>
              <a:rPr lang="en-US" sz="3000">
                <a:solidFill>
                  <a:srgbClr val="92D050"/>
                </a:solidFill>
              </a:rPr>
              <a:t>Comparision with a Differential amplifier</a:t>
            </a:r>
          </a:p>
          <a:p>
            <a:pPr marL="0" indent="0">
              <a:buNone/>
            </a:pPr>
            <a:endParaRPr lang="en-US" sz="3000">
              <a:solidFill>
                <a:schemeClr val="bg1"/>
              </a:solidFill>
            </a:endParaRPr>
          </a:p>
        </p:txBody>
      </p:sp>
      <p:pic>
        <p:nvPicPr>
          <p:cNvPr id="7" name="Picture 6" descr="A graph with lines on it&#10;&#10;Description automatically generated">
            <a:extLst>
              <a:ext uri="{FF2B5EF4-FFF2-40B4-BE49-F238E27FC236}">
                <a16:creationId xmlns:a16="http://schemas.microsoft.com/office/drawing/2014/main" id="{3D0648BA-53FB-44FA-AF1C-7096327440F6}"/>
              </a:ext>
            </a:extLst>
          </p:cNvPr>
          <p:cNvPicPr>
            <a:picLocks noChangeAspect="1"/>
          </p:cNvPicPr>
          <p:nvPr/>
        </p:nvPicPr>
        <p:blipFill>
          <a:blip r:embed="rId2"/>
          <a:stretch>
            <a:fillRect/>
          </a:stretch>
        </p:blipFill>
        <p:spPr>
          <a:xfrm>
            <a:off x="2186608" y="1298023"/>
            <a:ext cx="7542696" cy="3135520"/>
          </a:xfrm>
          <a:prstGeom prst="rect">
            <a:avLst/>
          </a:prstGeom>
        </p:spPr>
      </p:pic>
      <p:sp>
        <p:nvSpPr>
          <p:cNvPr id="9" name="TextBox 8">
            <a:extLst>
              <a:ext uri="{FF2B5EF4-FFF2-40B4-BE49-F238E27FC236}">
                <a16:creationId xmlns:a16="http://schemas.microsoft.com/office/drawing/2014/main" id="{480EAB4B-07E0-4CEC-23C5-2E6725B96B01}"/>
              </a:ext>
            </a:extLst>
          </p:cNvPr>
          <p:cNvSpPr txBox="1"/>
          <p:nvPr/>
        </p:nvSpPr>
        <p:spPr>
          <a:xfrm>
            <a:off x="717451" y="4654129"/>
            <a:ext cx="8915398"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rPr>
              <a:t>The graph on the right is the gain frequency</a:t>
            </a:r>
          </a:p>
          <a:p>
            <a:r>
              <a:rPr lang="en-US"/>
              <a:t>curve of the differential amplifier.</a:t>
            </a:r>
          </a:p>
          <a:p>
            <a:endParaRPr lang="en-US"/>
          </a:p>
          <a:p>
            <a:r>
              <a:rPr lang="en-US"/>
              <a:t>As can be seen, the curve cut off much before that of the preamplifier shown above.</a:t>
            </a:r>
          </a:p>
          <a:p>
            <a:endParaRPr lang="en-US"/>
          </a:p>
          <a:p>
            <a:r>
              <a:rPr lang="en-US"/>
              <a:t>The curve in the graph above, is also flatter indicating more stability</a:t>
            </a:r>
          </a:p>
        </p:txBody>
      </p:sp>
    </p:spTree>
    <p:extLst>
      <p:ext uri="{BB962C8B-B14F-4D97-AF65-F5344CB8AC3E}">
        <p14:creationId xmlns:p14="http://schemas.microsoft.com/office/powerpoint/2010/main" val="2748519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12E1-92CD-CDE3-4D4D-E18710AB5254}"/>
              </a:ext>
            </a:extLst>
          </p:cNvPr>
          <p:cNvSpPr>
            <a:spLocks noGrp="1"/>
          </p:cNvSpPr>
          <p:nvPr>
            <p:ph type="title"/>
          </p:nvPr>
        </p:nvSpPr>
        <p:spPr/>
        <p:txBody>
          <a:bodyPr/>
          <a:lstStyle/>
          <a:p>
            <a:r>
              <a:rPr lang="en-US" sz="3000"/>
              <a:t>Effect of Feedback on the Input</a:t>
            </a:r>
          </a:p>
        </p:txBody>
      </p:sp>
      <p:pic>
        <p:nvPicPr>
          <p:cNvPr id="4" name="Content Placeholder 3" descr="A diagram of an electrical component&#10;&#10;Description automatically generated">
            <a:extLst>
              <a:ext uri="{FF2B5EF4-FFF2-40B4-BE49-F238E27FC236}">
                <a16:creationId xmlns:a16="http://schemas.microsoft.com/office/drawing/2014/main" id="{461EA2ED-971A-9FBF-81CE-847B3399EF1C}"/>
              </a:ext>
            </a:extLst>
          </p:cNvPr>
          <p:cNvPicPr>
            <a:picLocks noGrp="1" noChangeAspect="1"/>
          </p:cNvPicPr>
          <p:nvPr>
            <p:ph idx="1"/>
          </p:nvPr>
        </p:nvPicPr>
        <p:blipFill>
          <a:blip r:embed="rId2"/>
          <a:stretch>
            <a:fillRect/>
          </a:stretch>
        </p:blipFill>
        <p:spPr>
          <a:xfrm>
            <a:off x="8519905" y="2097777"/>
            <a:ext cx="2838450" cy="3000375"/>
          </a:xfrm>
        </p:spPr>
      </p:pic>
      <p:sp>
        <p:nvSpPr>
          <p:cNvPr id="6" name="TextBox 5">
            <a:extLst>
              <a:ext uri="{FF2B5EF4-FFF2-40B4-BE49-F238E27FC236}">
                <a16:creationId xmlns:a16="http://schemas.microsoft.com/office/drawing/2014/main" id="{A0B54BE9-8838-2725-29A7-F8C0D67F5EC7}"/>
              </a:ext>
            </a:extLst>
          </p:cNvPr>
          <p:cNvSpPr txBox="1"/>
          <p:nvPr/>
        </p:nvSpPr>
        <p:spPr>
          <a:xfrm>
            <a:off x="1462713" y="1760693"/>
            <a:ext cx="7103265"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The circuit can be loosely modelled as an op amp</a:t>
            </a:r>
          </a:p>
          <a:p>
            <a:endParaRPr lang="en-US" sz="2000">
              <a:ea typeface="+mn-lt"/>
              <a:cs typeface="+mn-lt"/>
            </a:endParaRPr>
          </a:p>
          <a:p>
            <a:r>
              <a:rPr lang="en-US" sz="2000">
                <a:ea typeface="+mn-lt"/>
                <a:cs typeface="+mn-lt"/>
              </a:rPr>
              <a:t>Consider a series-shunt connection. The feedback network draws the same input current as the op-amp. This means that</a:t>
            </a:r>
            <a:endParaRPr lang="en-US"/>
          </a:p>
          <a:p>
            <a:endParaRPr lang="en-US" sz="2000"/>
          </a:p>
          <a:p>
            <a:endParaRPr lang="en-US" sz="2000"/>
          </a:p>
          <a:p>
            <a:endParaRPr lang="en-US" sz="2000">
              <a:ea typeface="+mn-lt"/>
              <a:cs typeface="+mn-lt"/>
            </a:endParaRPr>
          </a:p>
          <a:p>
            <a:endParaRPr lang="en-US" sz="2000">
              <a:ea typeface="+mn-lt"/>
              <a:cs typeface="+mn-lt"/>
            </a:endParaRPr>
          </a:p>
          <a:p>
            <a:endParaRPr lang="en-US" sz="2000">
              <a:ea typeface="+mn-lt"/>
              <a:cs typeface="+mn-lt"/>
            </a:endParaRPr>
          </a:p>
          <a:p>
            <a:endParaRPr lang="en-US" sz="2000">
              <a:ea typeface="+mn-lt"/>
              <a:cs typeface="+mn-lt"/>
            </a:endParaRPr>
          </a:p>
          <a:p>
            <a:r>
              <a:rPr lang="en-US" sz="2000">
                <a:ea typeface="+mn-lt"/>
                <a:cs typeface="+mn-lt"/>
              </a:rPr>
              <a:t>The input impedance appears amplified by a factor (1+GH) (the feedback factor!). provided that the feedback network elements are small compared to Zi</a:t>
            </a:r>
            <a:endParaRPr lang="en-US"/>
          </a:p>
        </p:txBody>
      </p:sp>
      <p:pic>
        <p:nvPicPr>
          <p:cNvPr id="7" name="Picture 6" descr="A black text on a white background&#10;&#10;Description automatically generated">
            <a:extLst>
              <a:ext uri="{FF2B5EF4-FFF2-40B4-BE49-F238E27FC236}">
                <a16:creationId xmlns:a16="http://schemas.microsoft.com/office/drawing/2014/main" id="{A02CB9CA-308F-86CE-4AA8-C44C60F97CFC}"/>
              </a:ext>
            </a:extLst>
          </p:cNvPr>
          <p:cNvPicPr>
            <a:picLocks noChangeAspect="1"/>
          </p:cNvPicPr>
          <p:nvPr/>
        </p:nvPicPr>
        <p:blipFill>
          <a:blip r:embed="rId3"/>
          <a:stretch>
            <a:fillRect/>
          </a:stretch>
        </p:blipFill>
        <p:spPr>
          <a:xfrm>
            <a:off x="2130632" y="3238567"/>
            <a:ext cx="5324475" cy="866775"/>
          </a:xfrm>
          <a:prstGeom prst="rect">
            <a:avLst/>
          </a:prstGeom>
        </p:spPr>
      </p:pic>
    </p:spTree>
    <p:extLst>
      <p:ext uri="{BB962C8B-B14F-4D97-AF65-F5344CB8AC3E}">
        <p14:creationId xmlns:p14="http://schemas.microsoft.com/office/powerpoint/2010/main" val="3098913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12E1-92CD-CDE3-4D4D-E18710AB5254}"/>
              </a:ext>
            </a:extLst>
          </p:cNvPr>
          <p:cNvSpPr>
            <a:spLocks noGrp="1"/>
          </p:cNvSpPr>
          <p:nvPr>
            <p:ph type="title"/>
          </p:nvPr>
        </p:nvSpPr>
        <p:spPr/>
        <p:txBody>
          <a:bodyPr/>
          <a:lstStyle/>
          <a:p>
            <a:r>
              <a:rPr lang="en-US" sz="3000"/>
              <a:t>Effect of Feedback on the Output</a:t>
            </a:r>
          </a:p>
        </p:txBody>
      </p:sp>
      <p:pic>
        <p:nvPicPr>
          <p:cNvPr id="4" name="Content Placeholder 3" descr="A diagram of an electrical component&#10;&#10;Description automatically generated">
            <a:extLst>
              <a:ext uri="{FF2B5EF4-FFF2-40B4-BE49-F238E27FC236}">
                <a16:creationId xmlns:a16="http://schemas.microsoft.com/office/drawing/2014/main" id="{461EA2ED-971A-9FBF-81CE-847B3399EF1C}"/>
              </a:ext>
            </a:extLst>
          </p:cNvPr>
          <p:cNvPicPr>
            <a:picLocks noGrp="1" noChangeAspect="1"/>
          </p:cNvPicPr>
          <p:nvPr>
            <p:ph idx="1"/>
          </p:nvPr>
        </p:nvPicPr>
        <p:blipFill>
          <a:blip r:embed="rId2"/>
          <a:stretch>
            <a:fillRect/>
          </a:stretch>
        </p:blipFill>
        <p:spPr>
          <a:xfrm>
            <a:off x="8519905" y="2097777"/>
            <a:ext cx="2838450" cy="3000375"/>
          </a:xfrm>
        </p:spPr>
      </p:pic>
      <p:sp>
        <p:nvSpPr>
          <p:cNvPr id="6" name="TextBox 5">
            <a:extLst>
              <a:ext uri="{FF2B5EF4-FFF2-40B4-BE49-F238E27FC236}">
                <a16:creationId xmlns:a16="http://schemas.microsoft.com/office/drawing/2014/main" id="{A0B54BE9-8838-2725-29A7-F8C0D67F5EC7}"/>
              </a:ext>
            </a:extLst>
          </p:cNvPr>
          <p:cNvSpPr txBox="1"/>
          <p:nvPr/>
        </p:nvSpPr>
        <p:spPr>
          <a:xfrm>
            <a:off x="1462713" y="1760693"/>
            <a:ext cx="710326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For the output admittance of the closed loop amp: Consider zero input voltage (i.e. take partial derivative of V2 with respect to i2</a:t>
            </a:r>
            <a:endParaRPr lang="en-US"/>
          </a:p>
          <a:p>
            <a:endParaRPr lang="en-US" sz="2000">
              <a:ea typeface="+mn-lt"/>
              <a:cs typeface="+mn-lt"/>
            </a:endParaRPr>
          </a:p>
          <a:p>
            <a:endParaRPr lang="en-US" sz="2000">
              <a:ea typeface="+mn-lt"/>
              <a:cs typeface="+mn-lt"/>
            </a:endParaRPr>
          </a:p>
          <a:p>
            <a:endParaRPr lang="en-US" sz="2000">
              <a:ea typeface="+mn-lt"/>
              <a:cs typeface="+mn-lt"/>
            </a:endParaRPr>
          </a:p>
          <a:p>
            <a:endParaRPr lang="en-US" sz="2000">
              <a:ea typeface="+mn-lt"/>
              <a:cs typeface="+mn-lt"/>
            </a:endParaRPr>
          </a:p>
          <a:p>
            <a:endParaRPr lang="en-US" sz="2000">
              <a:ea typeface="+mn-lt"/>
              <a:cs typeface="+mn-lt"/>
            </a:endParaRPr>
          </a:p>
          <a:p>
            <a:endParaRPr lang="en-US" sz="2000">
              <a:ea typeface="+mn-lt"/>
              <a:cs typeface="+mn-lt"/>
            </a:endParaRPr>
          </a:p>
          <a:p>
            <a:r>
              <a:rPr lang="en-US" sz="2000">
                <a:ea typeface="+mn-lt"/>
                <a:cs typeface="+mn-lt"/>
              </a:rPr>
              <a:t>The output impedance in the shunt connection appears reduced by the feedback factor. </a:t>
            </a:r>
            <a:endParaRPr lang="en-US">
              <a:ea typeface="+mn-lt"/>
              <a:cs typeface="+mn-lt"/>
            </a:endParaRPr>
          </a:p>
          <a:p>
            <a:endParaRPr lang="en-US" sz="2000">
              <a:ea typeface="+mn-lt"/>
              <a:cs typeface="+mn-lt"/>
            </a:endParaRPr>
          </a:p>
          <a:p>
            <a:r>
              <a:rPr lang="en-US" sz="2000">
                <a:ea typeface="+mn-lt"/>
                <a:cs typeface="+mn-lt"/>
              </a:rPr>
              <a:t>This time we have assumed that the feedback network resistors are much larger than the output impedance of the amplifier</a:t>
            </a:r>
            <a:endParaRPr lang="en-US" sz="2000"/>
          </a:p>
        </p:txBody>
      </p:sp>
      <p:pic>
        <p:nvPicPr>
          <p:cNvPr id="3" name="Picture 2">
            <a:extLst>
              <a:ext uri="{FF2B5EF4-FFF2-40B4-BE49-F238E27FC236}">
                <a16:creationId xmlns:a16="http://schemas.microsoft.com/office/drawing/2014/main" id="{6E02ADF9-C561-D59E-E803-B4AD47418246}"/>
              </a:ext>
            </a:extLst>
          </p:cNvPr>
          <p:cNvPicPr>
            <a:picLocks noChangeAspect="1"/>
          </p:cNvPicPr>
          <p:nvPr/>
        </p:nvPicPr>
        <p:blipFill>
          <a:blip r:embed="rId3"/>
          <a:stretch>
            <a:fillRect/>
          </a:stretch>
        </p:blipFill>
        <p:spPr>
          <a:xfrm>
            <a:off x="2834032" y="2774191"/>
            <a:ext cx="4381500" cy="1552575"/>
          </a:xfrm>
          <a:prstGeom prst="rect">
            <a:avLst/>
          </a:prstGeom>
        </p:spPr>
      </p:pic>
    </p:spTree>
    <p:extLst>
      <p:ext uri="{BB962C8B-B14F-4D97-AF65-F5344CB8AC3E}">
        <p14:creationId xmlns:p14="http://schemas.microsoft.com/office/powerpoint/2010/main" val="3659625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Filtering:</a:t>
            </a:r>
            <a:br>
              <a:rPr lang="en-IN"/>
            </a:br>
            <a:r>
              <a:rPr lang="en-IN" sz="2400">
                <a:solidFill>
                  <a:schemeClr val="accent3">
                    <a:lumMod val="60000"/>
                    <a:lumOff val="40000"/>
                  </a:schemeClr>
                </a:solidFill>
              </a:rPr>
              <a:t>*Active </a:t>
            </a:r>
            <a:r>
              <a:rPr lang="en-IN" sz="2400" err="1">
                <a:solidFill>
                  <a:schemeClr val="accent3">
                    <a:lumMod val="60000"/>
                    <a:lumOff val="40000"/>
                  </a:schemeClr>
                </a:solidFill>
              </a:rPr>
              <a:t>BandPass</a:t>
            </a:r>
            <a:r>
              <a:rPr lang="en-IN" sz="2400">
                <a:solidFill>
                  <a:schemeClr val="accent3">
                    <a:lumMod val="60000"/>
                    <a:lumOff val="40000"/>
                  </a:schemeClr>
                </a:solidFill>
              </a:rPr>
              <a:t> Filter:</a:t>
            </a:r>
            <a:endParaRPr/>
          </a:p>
        </p:txBody>
      </p:sp>
      <p:sp>
        <p:nvSpPr>
          <p:cNvPr id="3" name="Content Placeholder 2"/>
          <p:cNvSpPr>
            <a:spLocks noGrp="1"/>
          </p:cNvSpPr>
          <p:nvPr>
            <p:ph sz="half" idx="1"/>
          </p:nvPr>
        </p:nvSpPr>
        <p:spPr/>
        <p:txBody>
          <a:bodyPr/>
          <a:lstStyle/>
          <a:p>
            <a:r>
              <a:rPr lang="en-IN"/>
              <a:t>The cascading together of the individual low and high pass filters produces a low Q-factor type filter circuit which has a wide pass band .</a:t>
            </a:r>
            <a:endParaRPr/>
          </a:p>
          <a:p>
            <a:r>
              <a:rPr lang="en-IN"/>
              <a:t>The first stage of the filter will be the high pass stage that uses the capacitor to block any DC biasing from the source.</a:t>
            </a:r>
            <a:endParaRPr/>
          </a:p>
          <a:p>
            <a:r>
              <a:rPr lang="en-IN"/>
              <a:t>This design has the pass band frequency response with one half representing the low pass response and the other half representing high pass response .</a:t>
            </a:r>
            <a:endParaRPr/>
          </a:p>
        </p:txBody>
      </p:sp>
      <p:pic>
        <p:nvPicPr>
          <p:cNvPr id="14" name="Content Placeholder 13">
            <a:extLst>
              <a:ext uri="{FF2B5EF4-FFF2-40B4-BE49-F238E27FC236}">
                <a16:creationId xmlns:a16="http://schemas.microsoft.com/office/drawing/2014/main" id="{E36B21F4-59F5-832B-2917-FDA71165193B}"/>
              </a:ext>
            </a:extLst>
          </p:cNvPr>
          <p:cNvPicPr>
            <a:picLocks noGrp="1" noChangeAspect="1"/>
          </p:cNvPicPr>
          <p:nvPr>
            <p:ph sz="half" idx="2"/>
          </p:nvPr>
        </p:nvPicPr>
        <p:blipFill>
          <a:blip r:embed="rId2"/>
          <a:stretch>
            <a:fillRect/>
          </a:stretch>
        </p:blipFill>
        <p:spPr>
          <a:xfrm>
            <a:off x="6324600" y="2680860"/>
            <a:ext cx="4343400" cy="2559904"/>
          </a:xfrm>
        </p:spPr>
      </p:pic>
    </p:spTree>
    <p:extLst>
      <p:ext uri="{BB962C8B-B14F-4D97-AF65-F5344CB8AC3E}">
        <p14:creationId xmlns:p14="http://schemas.microsoft.com/office/powerpoint/2010/main" val="4145261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67763-A38C-8E8D-0230-1FDF2C00FCEE}"/>
              </a:ext>
            </a:extLst>
          </p:cNvPr>
          <p:cNvSpPr>
            <a:spLocks noGrp="1"/>
          </p:cNvSpPr>
          <p:nvPr>
            <p:ph type="title"/>
          </p:nvPr>
        </p:nvSpPr>
        <p:spPr/>
        <p:txBody>
          <a:bodyPr/>
          <a:lstStyle/>
          <a:p>
            <a:r>
              <a:rPr lang="en-IN"/>
              <a:t>Frequency response:</a:t>
            </a:r>
          </a:p>
        </p:txBody>
      </p:sp>
      <p:pic>
        <p:nvPicPr>
          <p:cNvPr id="6" name="Content Placeholder 5">
            <a:extLst>
              <a:ext uri="{FF2B5EF4-FFF2-40B4-BE49-F238E27FC236}">
                <a16:creationId xmlns:a16="http://schemas.microsoft.com/office/drawing/2014/main" id="{EB18E274-8C02-A49E-CF0C-71E06B518846}"/>
              </a:ext>
            </a:extLst>
          </p:cNvPr>
          <p:cNvPicPr>
            <a:picLocks noGrp="1" noChangeAspect="1"/>
          </p:cNvPicPr>
          <p:nvPr>
            <p:ph sz="half" idx="1"/>
          </p:nvPr>
        </p:nvPicPr>
        <p:blipFill>
          <a:blip r:embed="rId2"/>
          <a:stretch>
            <a:fillRect/>
          </a:stretch>
        </p:blipFill>
        <p:spPr>
          <a:xfrm>
            <a:off x="1524000" y="2032493"/>
            <a:ext cx="4343400" cy="3856639"/>
          </a:xfrm>
        </p:spPr>
      </p:pic>
      <p:sp>
        <p:nvSpPr>
          <p:cNvPr id="4" name="Content Placeholder 3">
            <a:extLst>
              <a:ext uri="{FF2B5EF4-FFF2-40B4-BE49-F238E27FC236}">
                <a16:creationId xmlns:a16="http://schemas.microsoft.com/office/drawing/2014/main" id="{085DB4F5-7071-0C9D-5A62-24DE8B11E8AC}"/>
              </a:ext>
            </a:extLst>
          </p:cNvPr>
          <p:cNvSpPr>
            <a:spLocks noGrp="1"/>
          </p:cNvSpPr>
          <p:nvPr>
            <p:ph sz="half" idx="2"/>
          </p:nvPr>
        </p:nvSpPr>
        <p:spPr/>
        <p:txBody>
          <a:bodyPr/>
          <a:lstStyle/>
          <a:p>
            <a:r>
              <a:rPr lang="en-IN"/>
              <a:t>For low pass filter part and high pass filter part in the Bandpass filter:</a:t>
            </a:r>
          </a:p>
          <a:p>
            <a:endParaRPr lang="en-IN"/>
          </a:p>
          <a:p>
            <a:pPr marL="0" indent="0">
              <a:buNone/>
            </a:pPr>
            <a:endParaRPr lang="en-IN"/>
          </a:p>
        </p:txBody>
      </p:sp>
      <p:pic>
        <p:nvPicPr>
          <p:cNvPr id="8" name="Picture 7">
            <a:extLst>
              <a:ext uri="{FF2B5EF4-FFF2-40B4-BE49-F238E27FC236}">
                <a16:creationId xmlns:a16="http://schemas.microsoft.com/office/drawing/2014/main" id="{A9F65563-BDCA-BEE1-7719-665FE5E3BC61}"/>
              </a:ext>
            </a:extLst>
          </p:cNvPr>
          <p:cNvPicPr>
            <a:picLocks noChangeAspect="1"/>
          </p:cNvPicPr>
          <p:nvPr/>
        </p:nvPicPr>
        <p:blipFill>
          <a:blip r:embed="rId3"/>
          <a:stretch>
            <a:fillRect/>
          </a:stretch>
        </p:blipFill>
        <p:spPr>
          <a:xfrm>
            <a:off x="6210861" y="2852936"/>
            <a:ext cx="4997707" cy="1606633"/>
          </a:xfrm>
          <a:prstGeom prst="rect">
            <a:avLst/>
          </a:prstGeom>
        </p:spPr>
      </p:pic>
    </p:spTree>
    <p:extLst>
      <p:ext uri="{BB962C8B-B14F-4D97-AF65-F5344CB8AC3E}">
        <p14:creationId xmlns:p14="http://schemas.microsoft.com/office/powerpoint/2010/main" val="377398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3E0D-2BEF-EB89-90C9-C78C6770A456}"/>
              </a:ext>
            </a:extLst>
          </p:cNvPr>
          <p:cNvSpPr>
            <a:spLocks noGrp="1"/>
          </p:cNvSpPr>
          <p:nvPr>
            <p:ph type="title"/>
          </p:nvPr>
        </p:nvSpPr>
        <p:spPr/>
        <p:txBody>
          <a:bodyPr/>
          <a:lstStyle/>
          <a:p>
            <a:r>
              <a:rPr lang="en-IN"/>
              <a:t>Calculations for the range of frequencies in the bandpass filter :</a:t>
            </a:r>
          </a:p>
        </p:txBody>
      </p:sp>
      <p:sp>
        <p:nvSpPr>
          <p:cNvPr id="3" name="Content Placeholder 2">
            <a:extLst>
              <a:ext uri="{FF2B5EF4-FFF2-40B4-BE49-F238E27FC236}">
                <a16:creationId xmlns:a16="http://schemas.microsoft.com/office/drawing/2014/main" id="{5E40B8AB-620A-60C7-8619-63CCC1BEDB0A}"/>
              </a:ext>
            </a:extLst>
          </p:cNvPr>
          <p:cNvSpPr>
            <a:spLocks noGrp="1"/>
          </p:cNvSpPr>
          <p:nvPr>
            <p:ph sz="half" idx="1"/>
          </p:nvPr>
        </p:nvSpPr>
        <p:spPr/>
        <p:txBody>
          <a:bodyPr/>
          <a:lstStyle/>
          <a:p>
            <a:r>
              <a:rPr lang="en-IN"/>
              <a:t>for the ranges of frequencies 50Hz to the 20kHz in the bandpass filter :</a:t>
            </a:r>
          </a:p>
          <a:p>
            <a:r>
              <a:rPr lang="en-IN"/>
              <a:t>Here we are considering the values of capacitor and resistor to get the frequency 50Hz are:</a:t>
            </a:r>
          </a:p>
          <a:p>
            <a:r>
              <a:rPr lang="en-IN"/>
              <a:t>C1=10uF</a:t>
            </a:r>
          </a:p>
          <a:p>
            <a:r>
              <a:rPr lang="en-IN"/>
              <a:t>R1=320 ohm</a:t>
            </a:r>
          </a:p>
          <a:p>
            <a:r>
              <a:rPr lang="en-IN"/>
              <a:t>for the frequency 20KHz:</a:t>
            </a:r>
          </a:p>
          <a:p>
            <a:r>
              <a:rPr lang="en-IN"/>
              <a:t>C2=10nF</a:t>
            </a:r>
          </a:p>
          <a:p>
            <a:r>
              <a:rPr lang="en-IN"/>
              <a:t>R2=800 ohm</a:t>
            </a:r>
          </a:p>
        </p:txBody>
      </p:sp>
      <p:pic>
        <p:nvPicPr>
          <p:cNvPr id="8" name="Content Placeholder 5">
            <a:extLst>
              <a:ext uri="{FF2B5EF4-FFF2-40B4-BE49-F238E27FC236}">
                <a16:creationId xmlns:a16="http://schemas.microsoft.com/office/drawing/2014/main" id="{6F81E494-B7EB-669E-EB26-08148B45853E}"/>
              </a:ext>
            </a:extLst>
          </p:cNvPr>
          <p:cNvPicPr>
            <a:picLocks noGrp="1" noChangeAspect="1"/>
          </p:cNvPicPr>
          <p:nvPr>
            <p:ph sz="half" idx="2"/>
          </p:nvPr>
        </p:nvPicPr>
        <p:blipFill>
          <a:blip r:embed="rId2"/>
          <a:stretch>
            <a:fillRect/>
          </a:stretch>
        </p:blipFill>
        <p:spPr>
          <a:xfrm>
            <a:off x="6240016" y="2060848"/>
            <a:ext cx="4343400" cy="900392"/>
          </a:xfrm>
        </p:spPr>
      </p:pic>
      <p:graphicFrame>
        <p:nvGraphicFramePr>
          <p:cNvPr id="9" name="Table 8">
            <a:extLst>
              <a:ext uri="{FF2B5EF4-FFF2-40B4-BE49-F238E27FC236}">
                <a16:creationId xmlns:a16="http://schemas.microsoft.com/office/drawing/2014/main" id="{16E5B918-1B91-220D-2299-91E381FE2AA2}"/>
              </a:ext>
            </a:extLst>
          </p:cNvPr>
          <p:cNvGraphicFramePr>
            <a:graphicFrameLocks noGrp="1"/>
          </p:cNvGraphicFramePr>
          <p:nvPr>
            <p:extLst>
              <p:ext uri="{D42A27DB-BD31-4B8C-83A1-F6EECF244321}">
                <p14:modId xmlns:p14="http://schemas.microsoft.com/office/powerpoint/2010/main" val="1962901888"/>
              </p:ext>
            </p:extLst>
          </p:nvPr>
        </p:nvGraphicFramePr>
        <p:xfrm>
          <a:off x="4655840" y="3501008"/>
          <a:ext cx="6012160" cy="1463040"/>
        </p:xfrm>
        <a:graphic>
          <a:graphicData uri="http://schemas.openxmlformats.org/drawingml/2006/table">
            <a:tbl>
              <a:tblPr firstRow="1" bandRow="1">
                <a:tableStyleId>{5C22544A-7EE6-4342-B048-85BDC9FD1C3A}</a:tableStyleId>
              </a:tblPr>
              <a:tblGrid>
                <a:gridCol w="6012160">
                  <a:extLst>
                    <a:ext uri="{9D8B030D-6E8A-4147-A177-3AD203B41FA5}">
                      <a16:colId xmlns:a16="http://schemas.microsoft.com/office/drawing/2014/main" val="1751678624"/>
                    </a:ext>
                  </a:extLst>
                </a:gridCol>
              </a:tblGrid>
              <a:tr h="1143000">
                <a:tc>
                  <a:txBody>
                    <a:bodyPr/>
                    <a:lstStyle/>
                    <a:p>
                      <a:r>
                        <a:rPr lang="en-IN">
                          <a:solidFill>
                            <a:schemeClr val="accent3">
                              <a:lumMod val="75000"/>
                            </a:schemeClr>
                          </a:solidFill>
                        </a:rPr>
                        <a:t>By using the above formulae we are considering the capacitor and resistor values as given below:</a:t>
                      </a:r>
                    </a:p>
                    <a:p>
                      <a:r>
                        <a:rPr lang="en-IN"/>
                        <a:t>fc1=1/(2*pi*320*10*10^(-6))=49.76Hz</a:t>
                      </a:r>
                    </a:p>
                    <a:p>
                      <a:r>
                        <a:rPr lang="en-IN"/>
                        <a:t>fc2=1/(2*pi*800*10*10^(-9))=19.904KHz</a:t>
                      </a:r>
                    </a:p>
                    <a:p>
                      <a:r>
                        <a:rPr lang="en-IN">
                          <a:solidFill>
                            <a:srgbClr val="FF0000"/>
                          </a:solidFill>
                        </a:rPr>
                        <a:t>Voltage Gain = -(800/320)=2.5</a:t>
                      </a:r>
                    </a:p>
                  </a:txBody>
                  <a:tcPr/>
                </a:tc>
                <a:extLst>
                  <a:ext uri="{0D108BD9-81ED-4DB2-BD59-A6C34878D82A}">
                    <a16:rowId xmlns:a16="http://schemas.microsoft.com/office/drawing/2014/main" val="3233949622"/>
                  </a:ext>
                </a:extLst>
              </a:tr>
            </a:tbl>
          </a:graphicData>
        </a:graphic>
      </p:graphicFrame>
    </p:spTree>
    <p:extLst>
      <p:ext uri="{BB962C8B-B14F-4D97-AF65-F5344CB8AC3E}">
        <p14:creationId xmlns:p14="http://schemas.microsoft.com/office/powerpoint/2010/main" val="2614782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Calculations for the frequency ranges:</a:t>
            </a:r>
            <a:br>
              <a:rPr lang="en-US"/>
            </a:br>
            <a:br>
              <a:rPr lang="en-US"/>
            </a:br>
            <a:endParaRPr/>
          </a:p>
        </p:txBody>
      </p:sp>
      <p:pic>
        <p:nvPicPr>
          <p:cNvPr id="7" name="Picture 6">
            <a:extLst>
              <a:ext uri="{FF2B5EF4-FFF2-40B4-BE49-F238E27FC236}">
                <a16:creationId xmlns:a16="http://schemas.microsoft.com/office/drawing/2014/main" id="{B66396DC-0FD0-1E4E-54D3-17E9939160B3}"/>
              </a:ext>
            </a:extLst>
          </p:cNvPr>
          <p:cNvPicPr>
            <a:picLocks noChangeAspect="1"/>
          </p:cNvPicPr>
          <p:nvPr/>
        </p:nvPicPr>
        <p:blipFill>
          <a:blip r:embed="rId2"/>
          <a:stretch>
            <a:fillRect/>
          </a:stretch>
        </p:blipFill>
        <p:spPr>
          <a:xfrm>
            <a:off x="1703512" y="1196752"/>
            <a:ext cx="6291232" cy="3024336"/>
          </a:xfrm>
          <a:prstGeom prst="rect">
            <a:avLst/>
          </a:prstGeom>
        </p:spPr>
      </p:pic>
      <p:sp>
        <p:nvSpPr>
          <p:cNvPr id="10" name="Content Placeholder 9">
            <a:extLst>
              <a:ext uri="{FF2B5EF4-FFF2-40B4-BE49-F238E27FC236}">
                <a16:creationId xmlns:a16="http://schemas.microsoft.com/office/drawing/2014/main" id="{5FCE19CB-6590-6410-C4C7-FE8EFFE81892}"/>
              </a:ext>
            </a:extLst>
          </p:cNvPr>
          <p:cNvSpPr>
            <a:spLocks noGrp="1"/>
          </p:cNvSpPr>
          <p:nvPr>
            <p:ph idx="1"/>
          </p:nvPr>
        </p:nvSpPr>
        <p:spPr/>
        <p:txBody>
          <a:bodyPr/>
          <a:lstStyle/>
          <a:p>
            <a:endParaRPr lang="en-IN"/>
          </a:p>
          <a:p>
            <a:endParaRPr lang="en-IN"/>
          </a:p>
          <a:p>
            <a:endParaRPr lang="en-IN"/>
          </a:p>
          <a:p>
            <a:endParaRPr lang="en-IN"/>
          </a:p>
          <a:p>
            <a:endParaRPr lang="en-IN"/>
          </a:p>
          <a:p>
            <a:r>
              <a:rPr lang="en-IN"/>
              <a:t>Here we are using the Band pass filter to allow only the particular range of </a:t>
            </a:r>
          </a:p>
          <a:p>
            <a:pPr marL="0" indent="0">
              <a:buNone/>
            </a:pPr>
            <a:r>
              <a:rPr lang="en-IN"/>
              <a:t>Frequencies(</a:t>
            </a:r>
            <a:r>
              <a:rPr lang="en-IN" err="1"/>
              <a:t>i.e</a:t>
            </a:r>
            <a:r>
              <a:rPr lang="en-IN"/>
              <a:t> here the range of frequencies we need to allow are 50Hz to 20KHz).</a:t>
            </a:r>
          </a:p>
        </p:txBody>
      </p:sp>
    </p:spTree>
    <p:extLst>
      <p:ext uri="{BB962C8B-B14F-4D97-AF65-F5344CB8AC3E}">
        <p14:creationId xmlns:p14="http://schemas.microsoft.com/office/powerpoint/2010/main" val="1153027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196752"/>
            <a:ext cx="6048672" cy="792088"/>
          </a:xfrm>
        </p:spPr>
        <p:txBody>
          <a:bodyPr>
            <a:normAutofit fontScale="90000"/>
          </a:bodyPr>
          <a:lstStyle/>
          <a:p>
            <a:r>
              <a:rPr lang="en-US"/>
              <a:t>Power Amplifier :</a:t>
            </a:r>
            <a:endParaRPr/>
          </a:p>
        </p:txBody>
      </p:sp>
      <p:sp>
        <p:nvSpPr>
          <p:cNvPr id="3" name="Text Placeholder 2"/>
          <p:cNvSpPr>
            <a:spLocks noGrp="1"/>
          </p:cNvSpPr>
          <p:nvPr>
            <p:ph type="body" idx="1"/>
          </p:nvPr>
        </p:nvSpPr>
        <p:spPr>
          <a:xfrm>
            <a:off x="1343472" y="2132856"/>
            <a:ext cx="6048672" cy="3963145"/>
          </a:xfrm>
        </p:spPr>
        <p:txBody>
          <a:bodyPr/>
          <a:lstStyle/>
          <a:p>
            <a:r>
              <a:rPr lang="en-IN">
                <a:solidFill>
                  <a:schemeClr val="accent3">
                    <a:lumMod val="60000"/>
                    <a:lumOff val="40000"/>
                  </a:schemeClr>
                </a:solidFill>
              </a:rPr>
              <a:t>Here we are using the class AB-amplifier.</a:t>
            </a:r>
          </a:p>
          <a:p>
            <a:r>
              <a:rPr lang="en-IN">
                <a:solidFill>
                  <a:schemeClr val="accent3">
                    <a:lumMod val="60000"/>
                    <a:lumOff val="40000"/>
                  </a:schemeClr>
                </a:solidFill>
              </a:rPr>
              <a:t>Class AB amplifier is biased so that </a:t>
            </a:r>
          </a:p>
          <a:p>
            <a:r>
              <a:rPr lang="en-IN">
                <a:solidFill>
                  <a:schemeClr val="accent3">
                    <a:lumMod val="60000"/>
                    <a:lumOff val="40000"/>
                  </a:schemeClr>
                </a:solidFill>
              </a:rPr>
              <a:t>the output current flows for less </a:t>
            </a:r>
          </a:p>
          <a:p>
            <a:r>
              <a:rPr lang="en-IN">
                <a:solidFill>
                  <a:schemeClr val="accent3">
                    <a:lumMod val="60000"/>
                    <a:lumOff val="40000"/>
                  </a:schemeClr>
                </a:solidFill>
              </a:rPr>
              <a:t>than one full-cycle of the input </a:t>
            </a:r>
          </a:p>
          <a:p>
            <a:r>
              <a:rPr lang="en-IN">
                <a:solidFill>
                  <a:schemeClr val="accent3">
                    <a:lumMod val="60000"/>
                    <a:lumOff val="40000"/>
                  </a:schemeClr>
                </a:solidFill>
              </a:rPr>
              <a:t>Waveform but more than a half cycle.</a:t>
            </a:r>
          </a:p>
          <a:p>
            <a:pPr marL="342900" indent="-342900">
              <a:buFont typeface="Arial" panose="020B0604020202020204" pitchFamily="34" charset="0"/>
              <a:buChar char="•"/>
            </a:pPr>
            <a:r>
              <a:rPr lang="en-IN">
                <a:solidFill>
                  <a:schemeClr val="accent3">
                    <a:lumMod val="60000"/>
                    <a:lumOff val="40000"/>
                  </a:schemeClr>
                </a:solidFill>
              </a:rPr>
              <a:t>The implementation of class AB is</a:t>
            </a:r>
          </a:p>
          <a:p>
            <a:r>
              <a:rPr lang="en-IN">
                <a:solidFill>
                  <a:schemeClr val="accent3">
                    <a:lumMod val="60000"/>
                    <a:lumOff val="40000"/>
                  </a:schemeClr>
                </a:solidFill>
              </a:rPr>
              <a:t>Similar to the standard class B </a:t>
            </a:r>
          </a:p>
          <a:p>
            <a:r>
              <a:rPr lang="en-IN">
                <a:solidFill>
                  <a:schemeClr val="accent3">
                    <a:lumMod val="60000"/>
                    <a:lumOff val="40000"/>
                  </a:schemeClr>
                </a:solidFill>
              </a:rPr>
              <a:t>In that configuration it uses two </a:t>
            </a:r>
          </a:p>
          <a:p>
            <a:r>
              <a:rPr lang="en-IN">
                <a:solidFill>
                  <a:schemeClr val="accent3">
                    <a:lumMod val="60000"/>
                    <a:lumOff val="40000"/>
                  </a:schemeClr>
                </a:solidFill>
              </a:rPr>
              <a:t>Switching transistors as part of a </a:t>
            </a:r>
          </a:p>
          <a:p>
            <a:r>
              <a:rPr lang="en-IN">
                <a:solidFill>
                  <a:schemeClr val="accent3">
                    <a:lumMod val="60000"/>
                    <a:lumOff val="40000"/>
                  </a:schemeClr>
                </a:solidFill>
              </a:rPr>
              <a:t>Complementary output stage with each </a:t>
            </a:r>
          </a:p>
          <a:p>
            <a:r>
              <a:rPr lang="en-IN">
                <a:solidFill>
                  <a:schemeClr val="accent3">
                    <a:lumMod val="60000"/>
                    <a:lumOff val="40000"/>
                  </a:schemeClr>
                </a:solidFill>
              </a:rPr>
              <a:t>Transistor conducting on opposite </a:t>
            </a:r>
          </a:p>
          <a:p>
            <a:r>
              <a:rPr lang="en-IN">
                <a:solidFill>
                  <a:schemeClr val="accent3">
                    <a:lumMod val="60000"/>
                    <a:lumOff val="40000"/>
                  </a:schemeClr>
                </a:solidFill>
              </a:rPr>
              <a:t>Half cycles of the input waveform</a:t>
            </a:r>
          </a:p>
          <a:p>
            <a:r>
              <a:rPr lang="en-IN">
                <a:solidFill>
                  <a:schemeClr val="accent3">
                    <a:lumMod val="60000"/>
                    <a:lumOff val="40000"/>
                  </a:schemeClr>
                </a:solidFill>
              </a:rPr>
              <a:t>Before being combined at the load.  </a:t>
            </a:r>
            <a:endParaRPr>
              <a:solidFill>
                <a:schemeClr val="accent3">
                  <a:lumMod val="60000"/>
                  <a:lumOff val="40000"/>
                </a:schemeClr>
              </a:solidFill>
            </a:endParaRPr>
          </a:p>
        </p:txBody>
      </p:sp>
      <p:pic>
        <p:nvPicPr>
          <p:cNvPr id="5" name="Picture 4">
            <a:extLst>
              <a:ext uri="{FF2B5EF4-FFF2-40B4-BE49-F238E27FC236}">
                <a16:creationId xmlns:a16="http://schemas.microsoft.com/office/drawing/2014/main" id="{06FC5959-C1B3-D84D-CBB1-B85B51CEB566}"/>
              </a:ext>
            </a:extLst>
          </p:cNvPr>
          <p:cNvPicPr>
            <a:picLocks noChangeAspect="1"/>
          </p:cNvPicPr>
          <p:nvPr/>
        </p:nvPicPr>
        <p:blipFill>
          <a:blip r:embed="rId2"/>
          <a:stretch>
            <a:fillRect/>
          </a:stretch>
        </p:blipFill>
        <p:spPr>
          <a:xfrm>
            <a:off x="6600056" y="2527032"/>
            <a:ext cx="5112568" cy="3599074"/>
          </a:xfrm>
          <a:prstGeom prst="rect">
            <a:avLst/>
          </a:prstGeom>
        </p:spPr>
      </p:pic>
    </p:spTree>
    <p:extLst>
      <p:ext uri="{BB962C8B-B14F-4D97-AF65-F5344CB8AC3E}">
        <p14:creationId xmlns:p14="http://schemas.microsoft.com/office/powerpoint/2010/main" val="3444435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7048" y="1828800"/>
            <a:ext cx="8529392" cy="3832448"/>
          </a:xfrm>
        </p:spPr>
        <p:txBody>
          <a:bodyPr>
            <a:normAutofit/>
          </a:bodyPr>
          <a:lstStyle/>
          <a:p>
            <a:pPr marL="342900" indent="-342900">
              <a:buFont typeface="Arial" panose="020B0604020202020204" pitchFamily="34" charset="0"/>
              <a:buChar char="•"/>
            </a:pPr>
            <a:r>
              <a:rPr lang="en-IN"/>
              <a:t>Class AB amplifier configuration is more efficient than Class A amplifier but slightly less efficient than that of Class B.</a:t>
            </a:r>
          </a:p>
          <a:p>
            <a:pPr marL="342900" indent="-342900">
              <a:buFont typeface="Arial" panose="020B0604020202020204" pitchFamily="34" charset="0"/>
              <a:buChar char="•"/>
            </a:pPr>
            <a:r>
              <a:rPr lang="en-IN"/>
              <a:t>The Class AB amplifiers are one of the most preferred audio power amplifier designs.</a:t>
            </a:r>
          </a:p>
          <a:p>
            <a:pPr marL="342900" indent="-342900">
              <a:buFont typeface="Arial" panose="020B0604020202020204" pitchFamily="34" charset="0"/>
              <a:buChar char="•"/>
            </a:pPr>
            <a:r>
              <a:rPr lang="en-IN"/>
              <a:t>Their combination of reasonably good efficiency and high–quality output as they have low crossover distortion and a high linearity similar to the Class A amplifier design.</a:t>
            </a:r>
            <a:endParaRPr/>
          </a:p>
        </p:txBody>
      </p:sp>
      <p:sp>
        <p:nvSpPr>
          <p:cNvPr id="8" name="Title 7">
            <a:extLst>
              <a:ext uri="{FF2B5EF4-FFF2-40B4-BE49-F238E27FC236}">
                <a16:creationId xmlns:a16="http://schemas.microsoft.com/office/drawing/2014/main" id="{02814938-B2B3-EFA2-E4AD-BB1D56D2BB1C}"/>
              </a:ext>
            </a:extLst>
          </p:cNvPr>
          <p:cNvSpPr>
            <a:spLocks noGrp="1"/>
          </p:cNvSpPr>
          <p:nvPr>
            <p:ph type="title"/>
          </p:nvPr>
        </p:nvSpPr>
        <p:spPr/>
        <p:txBody>
          <a:bodyPr/>
          <a:lstStyle/>
          <a:p>
            <a:r>
              <a:rPr lang="en-IN"/>
              <a:t>About the Class AB amplifier.</a:t>
            </a:r>
            <a:br>
              <a:rPr lang="en-IN"/>
            </a:br>
            <a:endParaRPr lang="en-IN"/>
          </a:p>
        </p:txBody>
      </p:sp>
    </p:spTree>
    <p:extLst>
      <p:ext uri="{BB962C8B-B14F-4D97-AF65-F5344CB8AC3E}">
        <p14:creationId xmlns:p14="http://schemas.microsoft.com/office/powerpoint/2010/main" val="1475842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512" y="457200"/>
            <a:ext cx="9144000" cy="1143000"/>
          </a:xfrm>
        </p:spPr>
        <p:txBody>
          <a:bodyPr>
            <a:normAutofit fontScale="90000"/>
          </a:bodyPr>
          <a:lstStyle/>
          <a:p>
            <a:r>
              <a:rPr lang="en-US">
                <a:solidFill>
                  <a:schemeClr val="accent3">
                    <a:lumMod val="60000"/>
                    <a:lumOff val="40000"/>
                  </a:schemeClr>
                </a:solidFill>
                <a:latin typeface="Algerian" panose="04020705040A02060702" pitchFamily="82" charset="0"/>
              </a:rPr>
              <a:t>Full Circuit:</a:t>
            </a:r>
            <a:br>
              <a:rPr lang="en-US">
                <a:solidFill>
                  <a:schemeClr val="accent3">
                    <a:lumMod val="60000"/>
                    <a:lumOff val="40000"/>
                  </a:schemeClr>
                </a:solidFill>
                <a:latin typeface="Algerian" panose="04020705040A02060702" pitchFamily="82" charset="0"/>
              </a:rPr>
            </a:br>
            <a:br>
              <a:rPr lang="en-US">
                <a:solidFill>
                  <a:schemeClr val="accent3">
                    <a:lumMod val="60000"/>
                    <a:lumOff val="40000"/>
                  </a:schemeClr>
                </a:solidFill>
                <a:latin typeface="Algerian" panose="04020705040A02060702" pitchFamily="82" charset="0"/>
              </a:rPr>
            </a:br>
            <a:endParaRPr>
              <a:solidFill>
                <a:schemeClr val="accent3">
                  <a:lumMod val="60000"/>
                  <a:lumOff val="40000"/>
                </a:schemeClr>
              </a:solidFill>
              <a:latin typeface="Algerian" panose="04020705040A02060702" pitchFamily="82" charset="0"/>
            </a:endParaRPr>
          </a:p>
        </p:txBody>
      </p:sp>
      <p:pic>
        <p:nvPicPr>
          <p:cNvPr id="4" name="Picture 3">
            <a:extLst>
              <a:ext uri="{FF2B5EF4-FFF2-40B4-BE49-F238E27FC236}">
                <a16:creationId xmlns:a16="http://schemas.microsoft.com/office/drawing/2014/main" id="{6B1FF44D-E3D0-1C46-4809-6FD95E2F0992}"/>
              </a:ext>
            </a:extLst>
          </p:cNvPr>
          <p:cNvPicPr>
            <a:picLocks noChangeAspect="1"/>
          </p:cNvPicPr>
          <p:nvPr/>
        </p:nvPicPr>
        <p:blipFill>
          <a:blip r:embed="rId2"/>
          <a:stretch>
            <a:fillRect/>
          </a:stretch>
        </p:blipFill>
        <p:spPr>
          <a:xfrm>
            <a:off x="335360" y="1177926"/>
            <a:ext cx="11521280" cy="4254472"/>
          </a:xfrm>
          <a:prstGeom prst="rect">
            <a:avLst/>
          </a:prstGeom>
        </p:spPr>
      </p:pic>
    </p:spTree>
    <p:extLst>
      <p:ext uri="{BB962C8B-B14F-4D97-AF65-F5344CB8AC3E}">
        <p14:creationId xmlns:p14="http://schemas.microsoft.com/office/powerpoint/2010/main" val="215988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ACE1A-D9CB-0D3A-D6DF-C508BEF3AADB}"/>
              </a:ext>
            </a:extLst>
          </p:cNvPr>
          <p:cNvSpPr>
            <a:spLocks noGrp="1"/>
          </p:cNvSpPr>
          <p:nvPr>
            <p:ph type="title"/>
          </p:nvPr>
        </p:nvSpPr>
        <p:spPr/>
        <p:txBody>
          <a:bodyPr>
            <a:normAutofit fontScale="90000"/>
          </a:bodyPr>
          <a:lstStyle/>
          <a:p>
            <a:pPr>
              <a:lnSpc>
                <a:spcPct val="107000"/>
              </a:lnSpc>
              <a:spcAft>
                <a:spcPts val="800"/>
              </a:spcAft>
            </a:pPr>
            <a:br>
              <a:rPr lang="en-IN"/>
            </a:br>
            <a:br>
              <a:rPr lang="en-IN"/>
            </a:br>
            <a:br>
              <a:rPr lang="en-IN"/>
            </a:br>
            <a:br>
              <a:rPr lang="en-IN"/>
            </a:br>
            <a:r>
              <a:rPr lang="en-IN"/>
              <a:t>Transient analysis:</a:t>
            </a:r>
            <a:br>
              <a:rPr lang="en-IN"/>
            </a:br>
            <a:r>
              <a:rPr lang="en-IN" sz="1800" kern="10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Plot of output and input </a:t>
            </a:r>
            <a:br>
              <a:rPr lang="en-IN" sz="1800" kern="10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Here we are taking the input as 10mV and getting the output as 3.8337V</a:t>
            </a:r>
            <a:br>
              <a:rPr lang="en-IN" sz="1800" kern="10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chemeClr val="accent2">
                    <a:lumMod val="75000"/>
                  </a:schemeClr>
                </a:solidFill>
                <a:effectLst/>
                <a:latin typeface="Calibri" panose="020F0502020204030204" pitchFamily="34" charset="0"/>
                <a:ea typeface="Calibri" panose="020F0502020204030204" pitchFamily="34" charset="0"/>
                <a:cs typeface="Times New Roman" panose="02020603050405020304" pitchFamily="18" charset="0"/>
              </a:rPr>
              <a:t>So total gain is 383.37</a:t>
            </a:r>
            <a:endParaRPr lang="en-IN">
              <a:solidFill>
                <a:schemeClr val="accent2">
                  <a:lumMod val="75000"/>
                </a:schemeClr>
              </a:solidFill>
            </a:endParaRPr>
          </a:p>
        </p:txBody>
      </p:sp>
      <p:pic>
        <p:nvPicPr>
          <p:cNvPr id="3" name="Picture 2">
            <a:extLst>
              <a:ext uri="{FF2B5EF4-FFF2-40B4-BE49-F238E27FC236}">
                <a16:creationId xmlns:a16="http://schemas.microsoft.com/office/drawing/2014/main" id="{0BC04FB7-6A52-F165-AE1A-27A9D7B2AC47}"/>
              </a:ext>
            </a:extLst>
          </p:cNvPr>
          <p:cNvPicPr>
            <a:picLocks noChangeAspect="1"/>
          </p:cNvPicPr>
          <p:nvPr/>
        </p:nvPicPr>
        <p:blipFill>
          <a:blip r:embed="rId2"/>
          <a:stretch>
            <a:fillRect/>
          </a:stretch>
        </p:blipFill>
        <p:spPr>
          <a:xfrm>
            <a:off x="1117206" y="1875154"/>
            <a:ext cx="8723209" cy="4163388"/>
          </a:xfrm>
          <a:prstGeom prst="rect">
            <a:avLst/>
          </a:prstGeom>
        </p:spPr>
      </p:pic>
    </p:spTree>
    <p:extLst>
      <p:ext uri="{BB962C8B-B14F-4D97-AF65-F5344CB8AC3E}">
        <p14:creationId xmlns:p14="http://schemas.microsoft.com/office/powerpoint/2010/main" val="848620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59F1F-FB60-4138-31A5-CB55E28DFDC0}"/>
              </a:ext>
            </a:extLst>
          </p:cNvPr>
          <p:cNvSpPr>
            <a:spLocks noGrp="1"/>
          </p:cNvSpPr>
          <p:nvPr>
            <p:ph type="title"/>
          </p:nvPr>
        </p:nvSpPr>
        <p:spPr/>
        <p:txBody>
          <a:bodyPr/>
          <a:lstStyle/>
          <a:p>
            <a:r>
              <a:rPr lang="en-IN"/>
              <a:t>AC analysis:</a:t>
            </a:r>
            <a:br>
              <a:rPr lang="en-IN"/>
            </a:br>
            <a:endParaRPr lang="en-IN"/>
          </a:p>
        </p:txBody>
      </p:sp>
      <p:pic>
        <p:nvPicPr>
          <p:cNvPr id="3" name="Picture 2">
            <a:extLst>
              <a:ext uri="{FF2B5EF4-FFF2-40B4-BE49-F238E27FC236}">
                <a16:creationId xmlns:a16="http://schemas.microsoft.com/office/drawing/2014/main" id="{FDD669CF-F64E-DF0B-AF75-B8BBBDB083BE}"/>
              </a:ext>
            </a:extLst>
          </p:cNvPr>
          <p:cNvPicPr>
            <a:picLocks noChangeAspect="1"/>
          </p:cNvPicPr>
          <p:nvPr/>
        </p:nvPicPr>
        <p:blipFill>
          <a:blip r:embed="rId2"/>
          <a:stretch>
            <a:fillRect/>
          </a:stretch>
        </p:blipFill>
        <p:spPr>
          <a:xfrm>
            <a:off x="1847528" y="2051367"/>
            <a:ext cx="8442627" cy="4058559"/>
          </a:xfrm>
          <a:prstGeom prst="rect">
            <a:avLst/>
          </a:prstGeom>
        </p:spPr>
      </p:pic>
    </p:spTree>
    <p:extLst>
      <p:ext uri="{BB962C8B-B14F-4D97-AF65-F5344CB8AC3E}">
        <p14:creationId xmlns:p14="http://schemas.microsoft.com/office/powerpoint/2010/main" val="102430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C3D3-34A3-2AB7-1C9E-F8E86DB09CC8}"/>
              </a:ext>
            </a:extLst>
          </p:cNvPr>
          <p:cNvSpPr>
            <a:spLocks noGrp="1"/>
          </p:cNvSpPr>
          <p:nvPr>
            <p:ph type="title"/>
          </p:nvPr>
        </p:nvSpPr>
        <p:spPr/>
        <p:txBody>
          <a:bodyPr/>
          <a:lstStyle/>
          <a:p>
            <a:r>
              <a:rPr lang="en-IN"/>
              <a:t>DC analysis:</a:t>
            </a:r>
            <a:br>
              <a:rPr lang="en-IN"/>
            </a:br>
            <a:endParaRPr lang="en-IN"/>
          </a:p>
        </p:txBody>
      </p:sp>
      <p:pic>
        <p:nvPicPr>
          <p:cNvPr id="3" name="Picture 2">
            <a:extLst>
              <a:ext uri="{FF2B5EF4-FFF2-40B4-BE49-F238E27FC236}">
                <a16:creationId xmlns:a16="http://schemas.microsoft.com/office/drawing/2014/main" id="{B4A9A459-5D16-655F-852B-802C7603D20B}"/>
              </a:ext>
            </a:extLst>
          </p:cNvPr>
          <p:cNvPicPr>
            <a:picLocks noChangeAspect="1"/>
          </p:cNvPicPr>
          <p:nvPr/>
        </p:nvPicPr>
        <p:blipFill>
          <a:blip r:embed="rId2"/>
          <a:stretch>
            <a:fillRect/>
          </a:stretch>
        </p:blipFill>
        <p:spPr>
          <a:xfrm>
            <a:off x="2423592" y="2050731"/>
            <a:ext cx="8613243" cy="4142487"/>
          </a:xfrm>
          <a:prstGeom prst="rect">
            <a:avLst/>
          </a:prstGeom>
        </p:spPr>
      </p:pic>
    </p:spTree>
    <p:extLst>
      <p:ext uri="{BB962C8B-B14F-4D97-AF65-F5344CB8AC3E}">
        <p14:creationId xmlns:p14="http://schemas.microsoft.com/office/powerpoint/2010/main" val="4097258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51107-7BB5-FF8A-1785-D73250FC0C11}"/>
              </a:ext>
            </a:extLst>
          </p:cNvPr>
          <p:cNvSpPr>
            <a:spLocks noGrp="1"/>
          </p:cNvSpPr>
          <p:nvPr>
            <p:ph type="title"/>
          </p:nvPr>
        </p:nvSpPr>
        <p:spPr>
          <a:xfrm>
            <a:off x="1524000" y="457200"/>
            <a:ext cx="8676456" cy="5708104"/>
          </a:xfrm>
        </p:spPr>
        <p:txBody>
          <a:bodyPr>
            <a:normAutofit/>
          </a:bodyPr>
          <a:lstStyle/>
          <a:p>
            <a:pPr>
              <a:lnSpc>
                <a:spcPct val="107000"/>
              </a:lnSpc>
              <a:spcAft>
                <a:spcPts val="800"/>
              </a:spcAft>
            </a:pPr>
            <a:r>
              <a:rPr lang="en-IN" sz="3200" kern="100">
                <a:solidFill>
                  <a:schemeClr val="accent1">
                    <a:lumMod val="20000"/>
                    <a:lumOff val="80000"/>
                  </a:schemeClr>
                </a:solidFill>
                <a:effectLst/>
                <a:latin typeface="Calibri" panose="020F0502020204030204" pitchFamily="34" charset="0"/>
                <a:ea typeface="Calibri" panose="020F0502020204030204" pitchFamily="34" charset="0"/>
                <a:cs typeface="Times New Roman" panose="02020603050405020304" pitchFamily="18" charset="0"/>
              </a:rPr>
              <a:t>Reason for placing </a:t>
            </a:r>
            <a:r>
              <a:rPr lang="en-IN" sz="3200" kern="100">
                <a:solidFill>
                  <a:schemeClr val="accent1">
                    <a:lumMod val="20000"/>
                    <a:lumOff val="80000"/>
                  </a:schemeClr>
                </a:solidFill>
                <a:latin typeface="Calibri" panose="020F0502020204030204" pitchFamily="34" charset="0"/>
                <a:ea typeface="Calibri" panose="020F0502020204030204" pitchFamily="34" charset="0"/>
                <a:cs typeface="Times New Roman" panose="02020603050405020304" pitchFamily="18" charset="0"/>
              </a:rPr>
              <a:t>the capacitor  at the output side or at the input side :</a:t>
            </a:r>
            <a:br>
              <a:rPr lang="en-IN" sz="3200" kern="100">
                <a:solidFill>
                  <a:schemeClr val="accent1">
                    <a:lumMod val="20000"/>
                    <a:lumOff val="80000"/>
                  </a:schemeClr>
                </a:solidFill>
                <a:latin typeface="Calibri" panose="020F0502020204030204" pitchFamily="34" charset="0"/>
                <a:ea typeface="Calibri" panose="020F0502020204030204" pitchFamily="34" charset="0"/>
                <a:cs typeface="Times New Roman" panose="02020603050405020304" pitchFamily="18" charset="0"/>
              </a:rPr>
            </a:br>
            <a:br>
              <a:rPr lang="en-IN" sz="3200" kern="100">
                <a:solidFill>
                  <a:schemeClr val="accent1">
                    <a:lumMod val="20000"/>
                    <a:lumOff val="80000"/>
                  </a:schemeClr>
                </a:solidFill>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We place the capacitor at the output because for DC blocking: capacitors block DC voltage while allowing AC signals to pass through. In audio amplifiers, the audio signal is an AC signal and the capacitor blocks any DC offset from the amplifier circuitry, preventing it from reaching the output.</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lang="en-IN" sz="1800" kern="100">
                <a:effectLst/>
                <a:latin typeface="Calibri" panose="020F0502020204030204" pitchFamily="34" charset="0"/>
                <a:ea typeface="Calibri" panose="020F0502020204030204" pitchFamily="34" charset="0"/>
                <a:cs typeface="Times New Roman" panose="02020603050405020304" pitchFamily="18" charset="0"/>
              </a:rPr>
              <a:t>We place the capacitor at the input side because </a:t>
            </a:r>
            <a:r>
              <a:rPr lang="en-IN" sz="1800" kern="100">
                <a:latin typeface="Calibri" panose="020F0502020204030204" pitchFamily="34" charset="0"/>
                <a:ea typeface="Calibri" panose="020F0502020204030204" pitchFamily="34" charset="0"/>
                <a:cs typeface="Times New Roman" panose="02020603050405020304" pitchFamily="18" charset="0"/>
              </a:rPr>
              <a:t>h</a:t>
            </a:r>
            <a:r>
              <a:rPr lang="en-IN" sz="1800" kern="100">
                <a:effectLst/>
                <a:latin typeface="Calibri" panose="020F0502020204030204" pitchFamily="34" charset="0"/>
                <a:ea typeface="Calibri" panose="020F0502020204030204" pitchFamily="34" charset="0"/>
                <a:cs typeface="Times New Roman" panose="02020603050405020304" pitchFamily="18" charset="0"/>
              </a:rPr>
              <a:t>ere also capacitors are used at the input to block any DC voltage that might be present in the input signal source or that could arise from biasing within the amplifier circuit.</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IN" sz="1800" kern="100">
                <a:effectLst/>
                <a:latin typeface="Calibri" panose="020F0502020204030204" pitchFamily="34" charset="0"/>
                <a:ea typeface="Calibri" panose="020F0502020204030204" pitchFamily="34" charset="0"/>
                <a:cs typeface="Times New Roman" panose="02020603050405020304" pitchFamily="18" charset="0"/>
              </a:rPr>
              <a:t>This prevents any DC offset from reaching the amplifier’s input stage, which could potentially damage the amplifier or distort the signal.</a:t>
            </a:r>
            <a:endParaRPr lang="en-IN"/>
          </a:p>
        </p:txBody>
      </p:sp>
    </p:spTree>
    <p:extLst>
      <p:ext uri="{BB962C8B-B14F-4D97-AF65-F5344CB8AC3E}">
        <p14:creationId xmlns:p14="http://schemas.microsoft.com/office/powerpoint/2010/main" val="2267081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6FBDC-FCC3-2D88-FDFB-51E58807E4F1}"/>
              </a:ext>
            </a:extLst>
          </p:cNvPr>
          <p:cNvSpPr>
            <a:spLocks noGrp="1"/>
          </p:cNvSpPr>
          <p:nvPr>
            <p:ph type="title"/>
          </p:nvPr>
        </p:nvSpPr>
        <p:spPr>
          <a:xfrm>
            <a:off x="1343472" y="980728"/>
            <a:ext cx="9289032" cy="2088232"/>
          </a:xfrm>
        </p:spPr>
        <p:txBody>
          <a:bodyPr>
            <a:normAutofit fontScale="90000"/>
          </a:bodyPr>
          <a:lstStyle/>
          <a:p>
            <a:pPr>
              <a:lnSpc>
                <a:spcPct val="107000"/>
              </a:lnSpc>
              <a:spcAft>
                <a:spcPts val="800"/>
              </a:spcAft>
            </a:pPr>
            <a:r>
              <a:rPr lang="en-IN">
                <a:solidFill>
                  <a:schemeClr val="accent6">
                    <a:lumMod val="75000"/>
                  </a:schemeClr>
                </a:solidFill>
              </a:rPr>
              <a:t>Stage -1:</a:t>
            </a:r>
            <a:br>
              <a:rPr lang="en-IN"/>
            </a:br>
            <a:r>
              <a:rPr lang="en-IN" sz="1800" kern="100">
                <a:effectLst/>
                <a:latin typeface="Calibri" panose="020F0502020204030204" pitchFamily="34" charset="0"/>
                <a:ea typeface="Calibri" panose="020F0502020204030204" pitchFamily="34" charset="0"/>
                <a:cs typeface="Times New Roman" panose="02020603050405020304" pitchFamily="18" charset="0"/>
              </a:rPr>
              <a:t>Input:10mv</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Output:123.16mv</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Gain : 12.316</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The input and output are in same phase.</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endParaRPr lang="en-IN"/>
          </a:p>
        </p:txBody>
      </p:sp>
      <p:pic>
        <p:nvPicPr>
          <p:cNvPr id="3" name="Picture 2">
            <a:extLst>
              <a:ext uri="{FF2B5EF4-FFF2-40B4-BE49-F238E27FC236}">
                <a16:creationId xmlns:a16="http://schemas.microsoft.com/office/drawing/2014/main" id="{2E51D0C9-E56E-9EE7-3798-C0E570B879EC}"/>
              </a:ext>
            </a:extLst>
          </p:cNvPr>
          <p:cNvPicPr>
            <a:picLocks noChangeAspect="1"/>
          </p:cNvPicPr>
          <p:nvPr/>
        </p:nvPicPr>
        <p:blipFill>
          <a:blip r:embed="rId2"/>
          <a:stretch>
            <a:fillRect/>
          </a:stretch>
        </p:blipFill>
        <p:spPr>
          <a:xfrm>
            <a:off x="4799831" y="1277942"/>
            <a:ext cx="7013600" cy="4383306"/>
          </a:xfrm>
          <a:prstGeom prst="rect">
            <a:avLst/>
          </a:prstGeom>
        </p:spPr>
      </p:pic>
    </p:spTree>
    <p:extLst>
      <p:ext uri="{BB962C8B-B14F-4D97-AF65-F5344CB8AC3E}">
        <p14:creationId xmlns:p14="http://schemas.microsoft.com/office/powerpoint/2010/main" val="4233160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3D252-27B7-B6E6-7F81-D2727AC8B936}"/>
              </a:ext>
            </a:extLst>
          </p:cNvPr>
          <p:cNvSpPr>
            <a:spLocks noGrp="1"/>
          </p:cNvSpPr>
          <p:nvPr>
            <p:ph type="title"/>
          </p:nvPr>
        </p:nvSpPr>
        <p:spPr>
          <a:xfrm>
            <a:off x="1524000" y="457200"/>
            <a:ext cx="3851920" cy="1963688"/>
          </a:xfrm>
        </p:spPr>
        <p:txBody>
          <a:bodyPr>
            <a:normAutofit/>
          </a:bodyPr>
          <a:lstStyle/>
          <a:p>
            <a:pPr>
              <a:lnSpc>
                <a:spcPct val="107000"/>
              </a:lnSpc>
              <a:spcAft>
                <a:spcPts val="800"/>
              </a:spcAft>
            </a:pPr>
            <a:r>
              <a:rPr lang="en-IN">
                <a:solidFill>
                  <a:schemeClr val="accent6">
                    <a:lumMod val="75000"/>
                  </a:schemeClr>
                </a:solidFill>
              </a:rPr>
              <a:t>Stage -2:</a:t>
            </a:r>
            <a:br>
              <a:rPr lang="en-IN">
                <a:solidFill>
                  <a:schemeClr val="accent6">
                    <a:lumMod val="75000"/>
                  </a:schemeClr>
                </a:solidFill>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input:123.16mV</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Output:1.6075v</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Gain:11.048</a:t>
            </a:r>
            <a:endParaRPr lang="en-IN">
              <a:solidFill>
                <a:schemeClr val="accent6">
                  <a:lumMod val="75000"/>
                </a:schemeClr>
              </a:solidFill>
            </a:endParaRPr>
          </a:p>
        </p:txBody>
      </p:sp>
      <p:pic>
        <p:nvPicPr>
          <p:cNvPr id="3" name="Picture 2">
            <a:extLst>
              <a:ext uri="{FF2B5EF4-FFF2-40B4-BE49-F238E27FC236}">
                <a16:creationId xmlns:a16="http://schemas.microsoft.com/office/drawing/2014/main" id="{8FC655B2-2F82-D667-9DBC-3C74522DDBAA}"/>
              </a:ext>
            </a:extLst>
          </p:cNvPr>
          <p:cNvPicPr>
            <a:picLocks noChangeAspect="1"/>
          </p:cNvPicPr>
          <p:nvPr/>
        </p:nvPicPr>
        <p:blipFill>
          <a:blip r:embed="rId2"/>
          <a:stretch>
            <a:fillRect/>
          </a:stretch>
        </p:blipFill>
        <p:spPr>
          <a:xfrm>
            <a:off x="4007768" y="1124743"/>
            <a:ext cx="7993220" cy="4995541"/>
          </a:xfrm>
          <a:prstGeom prst="rect">
            <a:avLst/>
          </a:prstGeom>
        </p:spPr>
      </p:pic>
    </p:spTree>
    <p:extLst>
      <p:ext uri="{BB962C8B-B14F-4D97-AF65-F5344CB8AC3E}">
        <p14:creationId xmlns:p14="http://schemas.microsoft.com/office/powerpoint/2010/main" val="2347545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4BB6-D9F3-ABD3-D5B2-D4D3B22D5EDB}"/>
              </a:ext>
            </a:extLst>
          </p:cNvPr>
          <p:cNvSpPr>
            <a:spLocks noGrp="1"/>
          </p:cNvSpPr>
          <p:nvPr>
            <p:ph type="title"/>
          </p:nvPr>
        </p:nvSpPr>
        <p:spPr>
          <a:xfrm>
            <a:off x="1524000" y="457200"/>
            <a:ext cx="5868144" cy="1675656"/>
          </a:xfrm>
        </p:spPr>
        <p:txBody>
          <a:bodyPr>
            <a:normAutofit/>
          </a:bodyPr>
          <a:lstStyle/>
          <a:p>
            <a:pPr>
              <a:lnSpc>
                <a:spcPct val="107000"/>
              </a:lnSpc>
              <a:spcAft>
                <a:spcPts val="800"/>
              </a:spcAft>
            </a:pPr>
            <a:r>
              <a:rPr lang="en-IN" sz="3200">
                <a:solidFill>
                  <a:schemeClr val="accent6">
                    <a:lumMod val="75000"/>
                  </a:schemeClr>
                </a:solidFill>
              </a:rPr>
              <a:t>Stage-3:</a:t>
            </a:r>
            <a:br>
              <a:rPr lang="en-IN" sz="3200">
                <a:solidFill>
                  <a:schemeClr val="accent6">
                    <a:lumMod val="75000"/>
                  </a:schemeClr>
                </a:solidFill>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Input :10mv</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Output:3.9149</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IN" sz="1800" kern="100">
                <a:effectLst/>
                <a:latin typeface="Calibri" panose="020F0502020204030204" pitchFamily="34" charset="0"/>
                <a:ea typeface="Calibri" panose="020F0502020204030204" pitchFamily="34" charset="0"/>
                <a:cs typeface="Times New Roman" panose="02020603050405020304" pitchFamily="18" charset="0"/>
              </a:rPr>
              <a:t>Gain:2.4354</a:t>
            </a:r>
            <a:endParaRPr lang="en-IN" sz="3200">
              <a:solidFill>
                <a:schemeClr val="accent6">
                  <a:lumMod val="75000"/>
                </a:schemeClr>
              </a:solidFill>
            </a:endParaRPr>
          </a:p>
        </p:txBody>
      </p:sp>
      <p:pic>
        <p:nvPicPr>
          <p:cNvPr id="3" name="Picture 2">
            <a:extLst>
              <a:ext uri="{FF2B5EF4-FFF2-40B4-BE49-F238E27FC236}">
                <a16:creationId xmlns:a16="http://schemas.microsoft.com/office/drawing/2014/main" id="{3B8AE762-45DD-E955-D282-89A1807E486A}"/>
              </a:ext>
            </a:extLst>
          </p:cNvPr>
          <p:cNvPicPr>
            <a:picLocks noChangeAspect="1"/>
          </p:cNvPicPr>
          <p:nvPr/>
        </p:nvPicPr>
        <p:blipFill>
          <a:blip r:embed="rId2"/>
          <a:stretch>
            <a:fillRect/>
          </a:stretch>
        </p:blipFill>
        <p:spPr>
          <a:xfrm>
            <a:off x="3863752" y="1052736"/>
            <a:ext cx="7719600" cy="4824536"/>
          </a:xfrm>
          <a:prstGeom prst="rect">
            <a:avLst/>
          </a:prstGeom>
        </p:spPr>
      </p:pic>
    </p:spTree>
    <p:extLst>
      <p:ext uri="{BB962C8B-B14F-4D97-AF65-F5344CB8AC3E}">
        <p14:creationId xmlns:p14="http://schemas.microsoft.com/office/powerpoint/2010/main" val="4043199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4921E-B08F-58C0-58EA-4A39C75EDA67}"/>
              </a:ext>
            </a:extLst>
          </p:cNvPr>
          <p:cNvSpPr>
            <a:spLocks noGrp="1"/>
          </p:cNvSpPr>
          <p:nvPr>
            <p:ph type="title"/>
          </p:nvPr>
        </p:nvSpPr>
        <p:spPr>
          <a:xfrm>
            <a:off x="1559496" y="457200"/>
            <a:ext cx="9108504" cy="2971800"/>
          </a:xfrm>
        </p:spPr>
        <p:txBody>
          <a:bodyPr/>
          <a:lstStyle/>
          <a:p>
            <a:pPr>
              <a:lnSpc>
                <a:spcPct val="107000"/>
              </a:lnSpc>
              <a:spcAft>
                <a:spcPts val="800"/>
              </a:spcAft>
            </a:pPr>
            <a:r>
              <a:rPr lang="en-IN"/>
              <a:t>Overall circuit:</a:t>
            </a:r>
            <a:br>
              <a:rPr lang="en-IN"/>
            </a:br>
            <a: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*For overall circuit:</a:t>
            </a:r>
            <a:b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input :10mv</a:t>
            </a:r>
            <a:b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output : 3.8337V</a:t>
            </a:r>
            <a:b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br>
            <a:r>
              <a:rPr lang="en-IN" sz="1800" kern="10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Overall gain :383.37</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br>
              <a:rPr lang="en-IN"/>
            </a:br>
            <a:endParaRPr lang="en-IN"/>
          </a:p>
        </p:txBody>
      </p:sp>
      <p:pic>
        <p:nvPicPr>
          <p:cNvPr id="4" name="Picture 3">
            <a:extLst>
              <a:ext uri="{FF2B5EF4-FFF2-40B4-BE49-F238E27FC236}">
                <a16:creationId xmlns:a16="http://schemas.microsoft.com/office/drawing/2014/main" id="{42D86C7E-FB78-59EE-374F-58BC4E8C7D70}"/>
              </a:ext>
            </a:extLst>
          </p:cNvPr>
          <p:cNvPicPr>
            <a:picLocks noChangeAspect="1"/>
          </p:cNvPicPr>
          <p:nvPr/>
        </p:nvPicPr>
        <p:blipFill>
          <a:blip r:embed="rId2"/>
          <a:stretch>
            <a:fillRect/>
          </a:stretch>
        </p:blipFill>
        <p:spPr>
          <a:xfrm>
            <a:off x="4021847" y="1637982"/>
            <a:ext cx="7359254" cy="4599330"/>
          </a:xfrm>
          <a:prstGeom prst="rect">
            <a:avLst/>
          </a:prstGeom>
        </p:spPr>
      </p:pic>
    </p:spTree>
    <p:extLst>
      <p:ext uri="{BB962C8B-B14F-4D97-AF65-F5344CB8AC3E}">
        <p14:creationId xmlns:p14="http://schemas.microsoft.com/office/powerpoint/2010/main" val="3404068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Team:36</a:t>
            </a:r>
            <a:endParaRPr/>
          </a:p>
        </p:txBody>
      </p:sp>
      <p:sp>
        <p:nvSpPr>
          <p:cNvPr id="3" name="Content Placeholder 2"/>
          <p:cNvSpPr>
            <a:spLocks noGrp="1"/>
          </p:cNvSpPr>
          <p:nvPr>
            <p:ph idx="1"/>
          </p:nvPr>
        </p:nvSpPr>
        <p:spPr>
          <a:xfrm>
            <a:off x="760412" y="762000"/>
            <a:ext cx="5767636" cy="1658888"/>
          </a:xfrm>
        </p:spPr>
        <p:txBody>
          <a:bodyPr>
            <a:normAutofit/>
          </a:bodyPr>
          <a:lstStyle/>
          <a:p>
            <a:r>
              <a:rPr lang="en-IN" sz="3600" err="1"/>
              <a:t>Electonic</a:t>
            </a:r>
            <a:r>
              <a:rPr lang="en-IN" sz="3600"/>
              <a:t> workshop –II</a:t>
            </a:r>
          </a:p>
          <a:p>
            <a:r>
              <a:rPr lang="en-IN" sz="3600"/>
              <a:t>Project : Audio amplifier</a:t>
            </a:r>
            <a:endParaRPr sz="3600"/>
          </a:p>
        </p:txBody>
      </p:sp>
      <p:sp>
        <p:nvSpPr>
          <p:cNvPr id="4" name="Text Placeholder 3"/>
          <p:cNvSpPr>
            <a:spLocks noGrp="1"/>
          </p:cNvSpPr>
          <p:nvPr>
            <p:ph type="body" sz="half" idx="2"/>
          </p:nvPr>
        </p:nvSpPr>
        <p:spPr/>
        <p:txBody>
          <a:bodyPr/>
          <a:lstStyle/>
          <a:p>
            <a:r>
              <a:rPr lang="en-IN"/>
              <a:t>1.Name:</a:t>
            </a:r>
          </a:p>
          <a:p>
            <a:r>
              <a:rPr lang="en-IN"/>
              <a:t>      Darisa </a:t>
            </a:r>
            <a:r>
              <a:rPr lang="en-IN" err="1"/>
              <a:t>Manonga</a:t>
            </a:r>
            <a:r>
              <a:rPr lang="en-IN"/>
              <a:t> </a:t>
            </a:r>
          </a:p>
          <a:p>
            <a:r>
              <a:rPr lang="en-IN"/>
              <a:t>Roll No:    2022102021</a:t>
            </a:r>
          </a:p>
          <a:p>
            <a:r>
              <a:rPr lang="en-IN"/>
              <a:t>2.Name:</a:t>
            </a:r>
          </a:p>
          <a:p>
            <a:r>
              <a:rPr lang="en-IN"/>
              <a:t>     </a:t>
            </a:r>
            <a:r>
              <a:rPr lang="en-IN" err="1"/>
              <a:t>Deekshitha</a:t>
            </a:r>
            <a:endParaRPr lang="en-IN"/>
          </a:p>
          <a:p>
            <a:r>
              <a:rPr lang="en-IN"/>
              <a:t>Roll No:    2022102079</a:t>
            </a:r>
            <a:endParaRPr/>
          </a:p>
        </p:txBody>
      </p:sp>
    </p:spTree>
    <p:extLst>
      <p:ext uri="{BB962C8B-B14F-4D97-AF65-F5344CB8AC3E}">
        <p14:creationId xmlns:p14="http://schemas.microsoft.com/office/powerpoint/2010/main" val="3232560146"/>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Application>Microsoft Office PowerPoint</Application>
  <PresentationFormat>Widescreen</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Tech Computer 16x9</vt:lpstr>
      <vt:lpstr>Audio Amplifier</vt:lpstr>
      <vt:lpstr>Stages in Audio Amplifier:</vt:lpstr>
      <vt:lpstr>The preamplifier:</vt:lpstr>
      <vt:lpstr>PowerPoint Presentation</vt:lpstr>
      <vt:lpstr>PowerPoint Presentation</vt:lpstr>
      <vt:lpstr>PowerPoint Presentation</vt:lpstr>
      <vt:lpstr>Effect of Feedback on the Input</vt:lpstr>
      <vt:lpstr>Effect of Feedback on the Output</vt:lpstr>
      <vt:lpstr>Filtering: *Active BandPass Filter:</vt:lpstr>
      <vt:lpstr>Frequency response:</vt:lpstr>
      <vt:lpstr>Calculations for the range of frequencies in the bandpass filter :</vt:lpstr>
      <vt:lpstr>Calculations for the frequency ranges:  </vt:lpstr>
      <vt:lpstr>Power Amplifier :</vt:lpstr>
      <vt:lpstr>About the Class AB amplifier. </vt:lpstr>
      <vt:lpstr>Full Circuit:  </vt:lpstr>
      <vt:lpstr>    Transient analysis: Plot of output and input  Here we are taking the input as 10mV and getting the output as 3.8337V So total gain is 383.37</vt:lpstr>
      <vt:lpstr>AC analysis: </vt:lpstr>
      <vt:lpstr>DC analysis: </vt:lpstr>
      <vt:lpstr>Reason for placing the capacitor  at the output side or at the input side :  We place the capacitor at the output because for DC blocking: capacitors block DC voltage while allowing AC signals to pass through. In audio amplifiers, the audio signal is an AC signal and the capacitor blocks any DC offset from the amplifier circuitry, preventing it from reaching the output.  *We place the capacitor at the input side because here also capacitors are used at the input to block any DC voltage that might be present in the input signal source or that could arise from biasing within the amplifier circuit.  * This prevents any DC offset from reaching the amplifier’s input stage, which could potentially damage the amplifier or distort the signal.</vt:lpstr>
      <vt:lpstr>Stage -1: Input:10mv Output:123.16mv Gain : 12.316 The input and output are in same phase. </vt:lpstr>
      <vt:lpstr>Stage -2: input:123.16mV Output:1.6075v Gain:11.048</vt:lpstr>
      <vt:lpstr>Stage-3: Input :10mv Output:3.9149 Gain:2.4354</vt:lpstr>
      <vt:lpstr>Overall circuit: *For overall circuit: input :10mv output : 3.8337V Overall gain :383.37  </vt:lpstr>
      <vt:lpstr>Team:36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 Amplifier</dc:title>
  <dc:creator>darisa manogna</dc:creator>
  <cp:revision>1</cp:revision>
  <dcterms:created xsi:type="dcterms:W3CDTF">2024-03-05T08:27:18Z</dcterms:created>
  <dcterms:modified xsi:type="dcterms:W3CDTF">2024-03-05T11:00:16Z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